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reframe: AgriSentinel is not another leaf-classification app. It turns one field image into a verified decision. Introduce Vishal and Khushi, then preview the hybrid idea: the local CNN maps where disease may be, while an independent vision model checks what the whole image actually shows.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is not simply identifying a leaf. Today the chain breaks at four places: symptoms are detected late, look-alike diseases cause uncertainty, no one measures spread, and generic advice can be unsafe. AgriSentinel is designed around the full detection-to-action delay.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The user uploads once. The system tiles the image, fuses two independent visual reads, verifies the grounded plan, and produces an action schedule. The key product outcomes are visible: heatmap, spread, verified guidance, and a plain-language brief.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new hybrid detection path. EfficientNet-B0 runs locally over forty tiles and is excellent at spatial localisation. A configurable vision LLM — Gemini today, or GPT-4.1 through the same role — reads the whole image without seeing the CNN answer. The Decision Fusion Agent reconciles them before RAG, verification, and planning.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fusion policy has three important branches. Agreement passes forward. A disease-name mismatch can fuse the label while keeping the CNN’s tile map. But a clean-versus-infected conflict is fundamentally different: the system marks the result contested and refuses to recommend spraying. If the vision API is unavailable, the local pipeline continues and the event log makes that visible.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multi-agent design is justified by different tools and different failure modes. Perception agents operate on pixels, the spread agent performs deterministic spatial analysis, the agronomist retrieves sources, and the verifier has veto power. All mutations and branches appear in one event stream, so judges can see what ran.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actual dashboard. Point out the progressive heatmap, spread cards, live agent pipeline, grounded treatment plan, and action schedule. The numbers shown are from the prepared light-infection demo case. Offline replay is deliberate demo insurance: it feeds the same frontend event consumer as the live SSE backend.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evidence boundary before the numbers: these are PlantVillage test-split and labelled synthetic-mosaic results, not real-field accuracy. The fine-tuned EfficientNet reaches 95.6 percent accuracy and 94.7 percent macro-F1. ONNX CPU inference averages 6.5 milliseconds per tile, and the entire offline pipeline has a 0.46-second median.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honesty slide. Under simulated field degradation, accuracy falls from 95.6 to 86.6 percent and escalation rises from 15.8 to 35.9 percent. That simulation still does not add real clutter, overlapping leaves, soil, or camera variation, so it is not a substitute for original field photos. The next validation step is explicit.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verifier is a real control boundary. It checks whether claims are supported, whether chemicals are allowlisted, and whether dosage formats and ranges are sane. In the prepared adversarial test, ten attacks were attempted, two reached the plan, both were caught, and zero leaked. Call these counts, not a universal safety rate.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Vishal owned AI/ML, agents, and backend. Khushi owned frontend, demo, and presentation experience. The frozen contract kept both sides independent, then made final integration simple. The architecture is demo-ready on a CPU laptop and can swap providers without changing the product contract.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three words: see, verify, act. AgriSentinel combines two visual perspectives, turns evidence into an auditable decision, and knows when to refuse. The immediate next step is not more features; it is the real-field benchmark and calibration needed to earn deployment trust. Thank the judges.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140F"/>
        </a:solidFill>
        <a:effectLst/>
      </p:bgPr>
    </p:bg>
    <p:spTree>
      <p:nvGrpSpPr>
        <p:cNvPr id="1" name=""/>
        <p:cNvGrpSpPr/>
        <p:nvPr/>
      </p:nvGrpSpPr>
      <p:grpSpPr/>
      <p:sp>
        <p:nvSpPr>
          <p:cNvPr id="2" name="Rectangle 1"/>
          <p:cNvSpPr/>
          <p:nvPr/>
        </p:nvSpPr>
        <p:spPr>
          <a:xfrm>
            <a:off x="0" y="548640"/>
            <a:ext cx="12191695" cy="9144"/>
          </a:xfrm>
          <a:prstGeom prst="rect">
            <a:avLst/>
          </a:prstGeom>
          <a:solidFill>
            <a:srgbClr val="0B21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98448"/>
            <a:ext cx="12191695" cy="9144"/>
          </a:xfrm>
          <a:prstGeom prst="rect">
            <a:avLst/>
          </a:prstGeom>
          <a:solidFill>
            <a:srgbClr val="0B21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048255"/>
            <a:ext cx="12191695" cy="9144"/>
          </a:xfrm>
          <a:prstGeom prst="rect">
            <a:avLst/>
          </a:prstGeom>
          <a:solidFill>
            <a:srgbClr val="0B21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2798064"/>
            <a:ext cx="12191695" cy="9144"/>
          </a:xfrm>
          <a:prstGeom prst="rect">
            <a:avLst/>
          </a:prstGeom>
          <a:solidFill>
            <a:srgbClr val="0B21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3547872"/>
            <a:ext cx="12191695" cy="9144"/>
          </a:xfrm>
          <a:prstGeom prst="rect">
            <a:avLst/>
          </a:prstGeom>
          <a:solidFill>
            <a:srgbClr val="0B21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4297679"/>
            <a:ext cx="12191695" cy="9144"/>
          </a:xfrm>
          <a:prstGeom prst="rect">
            <a:avLst/>
          </a:prstGeom>
          <a:solidFill>
            <a:srgbClr val="0B21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5047488"/>
            <a:ext cx="12191695" cy="9144"/>
          </a:xfrm>
          <a:prstGeom prst="rect">
            <a:avLst/>
          </a:prstGeom>
          <a:solidFill>
            <a:srgbClr val="0B21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5797295"/>
            <a:ext cx="12191695" cy="9144"/>
          </a:xfrm>
          <a:prstGeom prst="rect">
            <a:avLst/>
          </a:prstGeom>
          <a:solidFill>
            <a:srgbClr val="0B21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0"/>
            <a:ext cx="9144" cy="6858000"/>
          </a:xfrm>
          <a:prstGeom prst="rect">
            <a:avLst/>
          </a:prstGeom>
          <a:solidFill>
            <a:srgbClr val="0B21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362456" y="0"/>
            <a:ext cx="9144" cy="6858000"/>
          </a:xfrm>
          <a:prstGeom prst="rect">
            <a:avLst/>
          </a:prstGeom>
          <a:solidFill>
            <a:srgbClr val="0B21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221991" y="0"/>
            <a:ext cx="9144" cy="6858000"/>
          </a:xfrm>
          <a:prstGeom prst="rect">
            <a:avLst/>
          </a:prstGeom>
          <a:solidFill>
            <a:srgbClr val="0B21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081528" y="0"/>
            <a:ext cx="9144" cy="6858000"/>
          </a:xfrm>
          <a:prstGeom prst="rect">
            <a:avLst/>
          </a:prstGeom>
          <a:solidFill>
            <a:srgbClr val="0B21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941063" y="0"/>
            <a:ext cx="9144" cy="6858000"/>
          </a:xfrm>
          <a:prstGeom prst="rect">
            <a:avLst/>
          </a:prstGeom>
          <a:solidFill>
            <a:srgbClr val="0B21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800599" y="0"/>
            <a:ext cx="9144" cy="6858000"/>
          </a:xfrm>
          <a:prstGeom prst="rect">
            <a:avLst/>
          </a:prstGeom>
          <a:solidFill>
            <a:srgbClr val="0B21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0136" y="0"/>
            <a:ext cx="9144" cy="6858000"/>
          </a:xfrm>
          <a:prstGeom prst="rect">
            <a:avLst/>
          </a:prstGeom>
          <a:solidFill>
            <a:srgbClr val="0B21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19672" y="0"/>
            <a:ext cx="9144" cy="6858000"/>
          </a:xfrm>
          <a:prstGeom prst="rect">
            <a:avLst/>
          </a:prstGeom>
          <a:solidFill>
            <a:srgbClr val="0B21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79208" y="0"/>
            <a:ext cx="9144" cy="6858000"/>
          </a:xfrm>
          <a:prstGeom prst="rect">
            <a:avLst/>
          </a:prstGeom>
          <a:solidFill>
            <a:srgbClr val="0B21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38744" y="0"/>
            <a:ext cx="9144" cy="6858000"/>
          </a:xfrm>
          <a:prstGeom prst="rect">
            <a:avLst/>
          </a:prstGeom>
          <a:solidFill>
            <a:srgbClr val="0B21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98280" y="0"/>
            <a:ext cx="9144" cy="6858000"/>
          </a:xfrm>
          <a:prstGeom prst="rect">
            <a:avLst/>
          </a:prstGeom>
          <a:solidFill>
            <a:srgbClr val="0B21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957816" y="0"/>
            <a:ext cx="9144" cy="6858000"/>
          </a:xfrm>
          <a:prstGeom prst="rect">
            <a:avLst/>
          </a:prstGeom>
          <a:solidFill>
            <a:srgbClr val="0B21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817352" y="0"/>
            <a:ext cx="9144" cy="6858000"/>
          </a:xfrm>
          <a:prstGeom prst="rect">
            <a:avLst/>
          </a:prstGeom>
          <a:solidFill>
            <a:srgbClr val="0B21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676888" y="0"/>
            <a:ext cx="9144" cy="6858000"/>
          </a:xfrm>
          <a:prstGeom prst="rect">
            <a:avLst/>
          </a:prstGeom>
          <a:solidFill>
            <a:srgbClr val="0B21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iamond 23"/>
          <p:cNvSpPr/>
          <p:nvPr/>
        </p:nvSpPr>
        <p:spPr>
          <a:xfrm>
            <a:off x="594360" y="502920"/>
            <a:ext cx="292608" cy="292608"/>
          </a:xfrm>
          <a:prstGeom prst="diamond">
            <a:avLst/>
          </a:prstGeom>
          <a:solidFill>
            <a:srgbClr val="132F25"/>
          </a:solidFill>
          <a:ln w="13970">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iamond 24"/>
          <p:cNvSpPr/>
          <p:nvPr/>
        </p:nvSpPr>
        <p:spPr>
          <a:xfrm>
            <a:off x="690372" y="598932"/>
            <a:ext cx="100584" cy="100584"/>
          </a:xfrm>
          <a:prstGeom prst="diamond">
            <a:avLst/>
          </a:prstGeom>
          <a:solidFill>
            <a:srgbClr val="75E6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14984" y="493776"/>
            <a:ext cx="1920240" cy="21945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000" b="1" i="0">
                <a:solidFill>
                  <a:srgbClr val="F5F8F6"/>
                </a:solidFill>
                <a:latin typeface="Aptos"/>
              </a:rPr>
              <a:t>AGRISENTINEL</a:t>
            </a:r>
          </a:p>
        </p:txBody>
      </p:sp>
      <p:sp>
        <p:nvSpPr>
          <p:cNvPr id="27" name="TextBox 26"/>
          <p:cNvSpPr txBox="1"/>
          <p:nvPr/>
        </p:nvSpPr>
        <p:spPr>
          <a:xfrm>
            <a:off x="1014984" y="658368"/>
            <a:ext cx="2011680" cy="146304"/>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650" b="1" i="0" spc="90">
                <a:solidFill>
                  <a:srgbClr val="36D399"/>
                </a:solidFill>
                <a:latin typeface="Aptos"/>
              </a:rPr>
              <a:t>AUTONOMOUS FIELD HEALTH</a:t>
            </a:r>
          </a:p>
        </p:txBody>
      </p:sp>
      <p:sp>
        <p:nvSpPr>
          <p:cNvPr id="28" name="Rounded Rectangle 27"/>
          <p:cNvSpPr/>
          <p:nvPr/>
        </p:nvSpPr>
        <p:spPr>
          <a:xfrm>
            <a:off x="612648" y="1188720"/>
            <a:ext cx="2212848" cy="310896"/>
          </a:xfrm>
          <a:prstGeom prst="roundRect">
            <a:avLst/>
          </a:prstGeom>
          <a:solidFill>
            <a:srgbClr val="282511"/>
          </a:solidFill>
          <a:ln w="10160">
            <a:solidFill>
              <a:srgbClr val="F4C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1197864"/>
            <a:ext cx="2121408" cy="274320"/>
          </a:xfrm>
          <a:prstGeom prst="rect">
            <a:avLst/>
          </a:prstGeom>
          <a:noFill/>
        </p:spPr>
        <p:txBody>
          <a:bodyPr wrap="square" lIns="27432" rIns="27432" tIns="27432" bIns="27432" anchor="ctr">
            <a:spAutoFit/>
          </a:bodyPr>
          <a:lstStyle/>
          <a:p>
            <a:pPr algn="ctr">
              <a:lnSpc>
                <a:spcPct val="105000"/>
              </a:lnSpc>
              <a:spcBef>
                <a:spcPts val="0"/>
              </a:spcBef>
              <a:spcAft>
                <a:spcPts val="0"/>
              </a:spcAft>
            </a:pPr>
            <a:r>
              <a:rPr sz="850" b="1" i="0">
                <a:solidFill>
                  <a:srgbClr val="F4C84A"/>
                </a:solidFill>
                <a:latin typeface="Aptos"/>
              </a:rPr>
              <a:t>AAROH AI/ML HACKATHON</a:t>
            </a:r>
          </a:p>
        </p:txBody>
      </p:sp>
      <p:sp>
        <p:nvSpPr>
          <p:cNvPr id="30" name="TextBox 29"/>
          <p:cNvSpPr txBox="1"/>
          <p:nvPr/>
        </p:nvSpPr>
        <p:spPr>
          <a:xfrm>
            <a:off x="621792" y="1755648"/>
            <a:ext cx="5623560" cy="144475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3400" b="1" i="0">
                <a:solidFill>
                  <a:srgbClr val="F5F8F6"/>
                </a:solidFill>
                <a:latin typeface="Aptos"/>
              </a:rPr>
              <a:t>From image to
verified field action.</a:t>
            </a:r>
          </a:p>
        </p:txBody>
      </p:sp>
      <p:sp>
        <p:nvSpPr>
          <p:cNvPr id="31" name="TextBox 30"/>
          <p:cNvSpPr txBox="1"/>
          <p:nvPr/>
        </p:nvSpPr>
        <p:spPr>
          <a:xfrm>
            <a:off x="658368" y="3355848"/>
            <a:ext cx="4956048" cy="105156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550" b="0" i="0">
                <a:solidFill>
                  <a:srgbClr val="A7B9B0"/>
                </a:solidFill>
                <a:latin typeface="Aptos"/>
              </a:rPr>
              <a:t>Hybrid crop disease detection that combines local EfficientNet speed with whole-image vision reasoning — then verifies every recommendation before it reaches a farmer.</a:t>
            </a:r>
          </a:p>
        </p:txBody>
      </p:sp>
      <p:sp>
        <p:nvSpPr>
          <p:cNvPr id="32" name="Rounded Rectangle 31"/>
          <p:cNvSpPr/>
          <p:nvPr/>
        </p:nvSpPr>
        <p:spPr>
          <a:xfrm>
            <a:off x="658368" y="4736592"/>
            <a:ext cx="1444752" cy="310896"/>
          </a:xfrm>
          <a:prstGeom prst="roundRect">
            <a:avLst/>
          </a:prstGeom>
          <a:solidFill>
            <a:srgbClr val="102B21"/>
          </a:solidFill>
          <a:ln w="10160">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4088" y="4745736"/>
            <a:ext cx="1353312" cy="274320"/>
          </a:xfrm>
          <a:prstGeom prst="rect">
            <a:avLst/>
          </a:prstGeom>
          <a:noFill/>
        </p:spPr>
        <p:txBody>
          <a:bodyPr wrap="square" lIns="27432" rIns="27432" tIns="27432" bIns="27432" anchor="ctr">
            <a:spAutoFit/>
          </a:bodyPr>
          <a:lstStyle/>
          <a:p>
            <a:pPr algn="ctr">
              <a:lnSpc>
                <a:spcPct val="105000"/>
              </a:lnSpc>
              <a:spcBef>
                <a:spcPts val="0"/>
              </a:spcBef>
              <a:spcAft>
                <a:spcPts val="0"/>
              </a:spcAft>
            </a:pPr>
            <a:r>
              <a:rPr sz="750" b="1" i="0">
                <a:solidFill>
                  <a:srgbClr val="36D399"/>
                </a:solidFill>
                <a:latin typeface="Aptos"/>
              </a:rPr>
              <a:t>HYBRID DETECTION</a:t>
            </a:r>
          </a:p>
        </p:txBody>
      </p:sp>
      <p:sp>
        <p:nvSpPr>
          <p:cNvPr id="34" name="Rounded Rectangle 33"/>
          <p:cNvSpPr/>
          <p:nvPr/>
        </p:nvSpPr>
        <p:spPr>
          <a:xfrm>
            <a:off x="2231136" y="4736592"/>
            <a:ext cx="1316736" cy="310896"/>
          </a:xfrm>
          <a:prstGeom prst="roundRect">
            <a:avLst/>
          </a:prstGeom>
          <a:solidFill>
            <a:srgbClr val="102B21"/>
          </a:solidFill>
          <a:ln w="10160">
            <a:solidFill>
              <a:srgbClr val="5DD6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276856" y="4745736"/>
            <a:ext cx="1225295" cy="274320"/>
          </a:xfrm>
          <a:prstGeom prst="rect">
            <a:avLst/>
          </a:prstGeom>
          <a:noFill/>
        </p:spPr>
        <p:txBody>
          <a:bodyPr wrap="square" lIns="27432" rIns="27432" tIns="27432" bIns="27432" anchor="ctr">
            <a:spAutoFit/>
          </a:bodyPr>
          <a:lstStyle/>
          <a:p>
            <a:pPr algn="ctr">
              <a:lnSpc>
                <a:spcPct val="105000"/>
              </a:lnSpc>
              <a:spcBef>
                <a:spcPts val="0"/>
              </a:spcBef>
              <a:spcAft>
                <a:spcPts val="0"/>
              </a:spcAft>
            </a:pPr>
            <a:r>
              <a:rPr sz="750" b="1" i="0">
                <a:solidFill>
                  <a:srgbClr val="5DD6D3"/>
                </a:solidFill>
                <a:latin typeface="Aptos"/>
              </a:rPr>
              <a:t>RAG + VERIFIER</a:t>
            </a:r>
          </a:p>
        </p:txBody>
      </p:sp>
      <p:sp>
        <p:nvSpPr>
          <p:cNvPr id="36" name="Rounded Rectangle 35"/>
          <p:cNvSpPr/>
          <p:nvPr/>
        </p:nvSpPr>
        <p:spPr>
          <a:xfrm>
            <a:off x="3685032" y="4736592"/>
            <a:ext cx="1234440" cy="310896"/>
          </a:xfrm>
          <a:prstGeom prst="roundRect">
            <a:avLst/>
          </a:prstGeom>
          <a:solidFill>
            <a:srgbClr val="282511"/>
          </a:solidFill>
          <a:ln w="10160">
            <a:solidFill>
              <a:srgbClr val="F4C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730752" y="4745736"/>
            <a:ext cx="1143000" cy="274320"/>
          </a:xfrm>
          <a:prstGeom prst="rect">
            <a:avLst/>
          </a:prstGeom>
          <a:noFill/>
        </p:spPr>
        <p:txBody>
          <a:bodyPr wrap="square" lIns="27432" rIns="27432" tIns="27432" bIns="27432" anchor="ctr">
            <a:spAutoFit/>
          </a:bodyPr>
          <a:lstStyle/>
          <a:p>
            <a:pPr algn="ctr">
              <a:lnSpc>
                <a:spcPct val="105000"/>
              </a:lnSpc>
              <a:spcBef>
                <a:spcPts val="0"/>
              </a:spcBef>
              <a:spcAft>
                <a:spcPts val="0"/>
              </a:spcAft>
            </a:pPr>
            <a:r>
              <a:rPr sz="750" b="1" i="0">
                <a:solidFill>
                  <a:srgbClr val="F4C84A"/>
                </a:solidFill>
                <a:latin typeface="Aptos"/>
              </a:rPr>
              <a:t>EN + HI BRIEF</a:t>
            </a:r>
          </a:p>
        </p:txBody>
      </p:sp>
      <p:sp>
        <p:nvSpPr>
          <p:cNvPr id="38" name="TextBox 37"/>
          <p:cNvSpPr txBox="1"/>
          <p:nvPr/>
        </p:nvSpPr>
        <p:spPr>
          <a:xfrm>
            <a:off x="658368" y="5559552"/>
            <a:ext cx="1188720" cy="16459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750" b="1" i="0" spc="100">
                <a:solidFill>
                  <a:srgbClr val="6E8278"/>
                </a:solidFill>
                <a:latin typeface="Aptos"/>
              </a:rPr>
              <a:t>DEVELOPERS</a:t>
            </a:r>
          </a:p>
        </p:txBody>
      </p:sp>
      <p:sp>
        <p:nvSpPr>
          <p:cNvPr id="39" name="TextBox 38"/>
          <p:cNvSpPr txBox="1"/>
          <p:nvPr/>
        </p:nvSpPr>
        <p:spPr>
          <a:xfrm>
            <a:off x="658368" y="5779008"/>
            <a:ext cx="3657600" cy="32004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800" b="1" i="0">
                <a:solidFill>
                  <a:srgbClr val="F5F8F6"/>
                </a:solidFill>
                <a:latin typeface="Aptos"/>
              </a:rPr>
              <a:t>Vishal  •  Khushi</a:t>
            </a:r>
          </a:p>
        </p:txBody>
      </p:sp>
      <p:sp>
        <p:nvSpPr>
          <p:cNvPr id="40" name="Rounded Rectangle 39"/>
          <p:cNvSpPr/>
          <p:nvPr/>
        </p:nvSpPr>
        <p:spPr>
          <a:xfrm>
            <a:off x="6492240" y="658368"/>
            <a:ext cx="5148072" cy="5596128"/>
          </a:xfrm>
          <a:prstGeom prst="roundRect">
            <a:avLst/>
          </a:prstGeom>
          <a:solidFill>
            <a:srgbClr val="0A1712"/>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field_tomato_late_blight.jpg"/>
          <p:cNvPicPr>
            <a:picLocks noChangeAspect="1"/>
          </p:cNvPicPr>
          <p:nvPr/>
        </p:nvPicPr>
        <p:blipFill>
          <a:blip r:embed="rId2"/>
          <a:srcRect l="95" r="95"/>
          <a:stretch>
            <a:fillRect/>
          </a:stretch>
        </p:blipFill>
        <p:spPr>
          <a:xfrm>
            <a:off x="6656832" y="822960"/>
            <a:ext cx="4818888" cy="3017520"/>
          </a:xfrm>
          <a:prstGeom prst="rect">
            <a:avLst/>
          </a:prstGeom>
        </p:spPr>
      </p:pic>
      <p:sp>
        <p:nvSpPr>
          <p:cNvPr id="42" name="Rectangle 41"/>
          <p:cNvSpPr/>
          <p:nvPr/>
        </p:nvSpPr>
        <p:spPr>
          <a:xfrm>
            <a:off x="6656832" y="822960"/>
            <a:ext cx="4818888" cy="3017520"/>
          </a:xfrm>
          <a:prstGeom prst="rect">
            <a:avLst/>
          </a:prstGeom>
          <a:noFill/>
          <a:ln w="1270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39712" y="987552"/>
            <a:ext cx="1920240" cy="21945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900" b="1" i="0" spc="120">
                <a:solidFill>
                  <a:srgbClr val="F4C84A"/>
                </a:solidFill>
                <a:latin typeface="Aptos"/>
              </a:rPr>
              <a:t>PROTOTYPE FIELD MOSAIC</a:t>
            </a:r>
          </a:p>
        </p:txBody>
      </p:sp>
      <p:sp>
        <p:nvSpPr>
          <p:cNvPr id="44" name="TextBox 43"/>
          <p:cNvSpPr txBox="1"/>
          <p:nvPr/>
        </p:nvSpPr>
        <p:spPr>
          <a:xfrm>
            <a:off x="6812280" y="4169663"/>
            <a:ext cx="914400" cy="50292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3000" b="1" i="0">
                <a:solidFill>
                  <a:srgbClr val="F5F8F6"/>
                </a:solidFill>
                <a:latin typeface="Aptos"/>
              </a:rPr>
              <a:t>40</a:t>
            </a:r>
          </a:p>
        </p:txBody>
      </p:sp>
      <p:sp>
        <p:nvSpPr>
          <p:cNvPr id="45" name="TextBox 44"/>
          <p:cNvSpPr txBox="1"/>
          <p:nvPr/>
        </p:nvSpPr>
        <p:spPr>
          <a:xfrm>
            <a:off x="6839712" y="4617720"/>
            <a:ext cx="1600200" cy="22860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900" b="0" i="0">
                <a:solidFill>
                  <a:srgbClr val="A7B9B0"/>
                </a:solidFill>
                <a:latin typeface="Aptos"/>
              </a:rPr>
              <a:t>inspection tiles</a:t>
            </a:r>
          </a:p>
        </p:txBody>
      </p:sp>
      <p:sp>
        <p:nvSpPr>
          <p:cNvPr id="46" name="TextBox 45"/>
          <p:cNvSpPr txBox="1"/>
          <p:nvPr/>
        </p:nvSpPr>
        <p:spPr>
          <a:xfrm>
            <a:off x="8394192" y="4224528"/>
            <a:ext cx="457200" cy="365760"/>
          </a:xfrm>
          <a:prstGeom prst="rect">
            <a:avLst/>
          </a:prstGeom>
          <a:noFill/>
        </p:spPr>
        <p:txBody>
          <a:bodyPr wrap="square" lIns="27432" rIns="27432" tIns="27432" bIns="27432" anchor="t">
            <a:spAutoFit/>
          </a:bodyPr>
          <a:lstStyle/>
          <a:p>
            <a:pPr algn="ctr">
              <a:lnSpc>
                <a:spcPct val="105000"/>
              </a:lnSpc>
              <a:spcBef>
                <a:spcPts val="0"/>
              </a:spcBef>
              <a:spcAft>
                <a:spcPts val="0"/>
              </a:spcAft>
            </a:pPr>
            <a:r>
              <a:rPr sz="2300" b="1" i="0">
                <a:solidFill>
                  <a:srgbClr val="6E8278"/>
                </a:solidFill>
                <a:latin typeface="Aptos"/>
              </a:rPr>
              <a:t>+</a:t>
            </a:r>
          </a:p>
        </p:txBody>
      </p:sp>
      <p:sp>
        <p:nvSpPr>
          <p:cNvPr id="47" name="TextBox 46"/>
          <p:cNvSpPr txBox="1"/>
          <p:nvPr/>
        </p:nvSpPr>
        <p:spPr>
          <a:xfrm>
            <a:off x="8942832" y="4169663"/>
            <a:ext cx="914400" cy="50292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3000" b="1" i="0">
                <a:solidFill>
                  <a:srgbClr val="F5F8F6"/>
                </a:solidFill>
                <a:latin typeface="Aptos"/>
              </a:rPr>
              <a:t>2</a:t>
            </a:r>
          </a:p>
        </p:txBody>
      </p:sp>
      <p:sp>
        <p:nvSpPr>
          <p:cNvPr id="48" name="TextBox 47"/>
          <p:cNvSpPr txBox="1"/>
          <p:nvPr/>
        </p:nvSpPr>
        <p:spPr>
          <a:xfrm>
            <a:off x="8942832" y="4617720"/>
            <a:ext cx="1600200" cy="22860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900" b="0" i="0">
                <a:solidFill>
                  <a:srgbClr val="A7B9B0"/>
                </a:solidFill>
                <a:latin typeface="Aptos"/>
              </a:rPr>
              <a:t>independent views</a:t>
            </a:r>
          </a:p>
        </p:txBody>
      </p:sp>
      <p:sp>
        <p:nvSpPr>
          <p:cNvPr id="49" name="TextBox 48"/>
          <p:cNvSpPr txBox="1"/>
          <p:nvPr/>
        </p:nvSpPr>
        <p:spPr>
          <a:xfrm>
            <a:off x="10287000" y="4224528"/>
            <a:ext cx="457200" cy="365760"/>
          </a:xfrm>
          <a:prstGeom prst="rect">
            <a:avLst/>
          </a:prstGeom>
          <a:noFill/>
        </p:spPr>
        <p:txBody>
          <a:bodyPr wrap="square" lIns="27432" rIns="27432" tIns="27432" bIns="27432" anchor="t">
            <a:spAutoFit/>
          </a:bodyPr>
          <a:lstStyle/>
          <a:p>
            <a:pPr algn="ctr">
              <a:lnSpc>
                <a:spcPct val="105000"/>
              </a:lnSpc>
              <a:spcBef>
                <a:spcPts val="0"/>
              </a:spcBef>
              <a:spcAft>
                <a:spcPts val="0"/>
              </a:spcAft>
            </a:pPr>
            <a:r>
              <a:rPr sz="2300" b="1" i="0">
                <a:solidFill>
                  <a:srgbClr val="6E8278"/>
                </a:solidFill>
                <a:latin typeface="Aptos"/>
              </a:rPr>
              <a:t>=</a:t>
            </a:r>
          </a:p>
        </p:txBody>
      </p:sp>
      <p:sp>
        <p:nvSpPr>
          <p:cNvPr id="50" name="TextBox 49"/>
          <p:cNvSpPr txBox="1"/>
          <p:nvPr/>
        </p:nvSpPr>
        <p:spPr>
          <a:xfrm>
            <a:off x="10789920" y="4169663"/>
            <a:ext cx="548640" cy="50292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3000" b="1" i="0">
                <a:solidFill>
                  <a:srgbClr val="75E6B8"/>
                </a:solidFill>
                <a:latin typeface="Aptos"/>
              </a:rPr>
              <a:t>1</a:t>
            </a:r>
          </a:p>
        </p:txBody>
      </p:sp>
      <p:sp>
        <p:nvSpPr>
          <p:cNvPr id="51" name="TextBox 50"/>
          <p:cNvSpPr txBox="1"/>
          <p:nvPr/>
        </p:nvSpPr>
        <p:spPr>
          <a:xfrm>
            <a:off x="10515600" y="4617720"/>
            <a:ext cx="960120" cy="329184"/>
          </a:xfrm>
          <a:prstGeom prst="rect">
            <a:avLst/>
          </a:prstGeom>
          <a:noFill/>
        </p:spPr>
        <p:txBody>
          <a:bodyPr wrap="square" lIns="27432" rIns="27432" tIns="27432" bIns="27432" anchor="t">
            <a:spAutoFit/>
          </a:bodyPr>
          <a:lstStyle/>
          <a:p>
            <a:pPr algn="ctr">
              <a:lnSpc>
                <a:spcPct val="105000"/>
              </a:lnSpc>
              <a:spcBef>
                <a:spcPts val="0"/>
              </a:spcBef>
              <a:spcAft>
                <a:spcPts val="0"/>
              </a:spcAft>
            </a:pPr>
            <a:r>
              <a:rPr sz="900" b="0" i="0">
                <a:solidFill>
                  <a:srgbClr val="75E6B8"/>
                </a:solidFill>
                <a:latin typeface="Aptos"/>
              </a:rPr>
              <a:t>verified decision</a:t>
            </a:r>
          </a:p>
        </p:txBody>
      </p:sp>
      <p:sp>
        <p:nvSpPr>
          <p:cNvPr id="52" name="Rectangle 51"/>
          <p:cNvSpPr/>
          <p:nvPr/>
        </p:nvSpPr>
        <p:spPr>
          <a:xfrm>
            <a:off x="6812280" y="5074920"/>
            <a:ext cx="4279392" cy="9144"/>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821424" y="5266944"/>
            <a:ext cx="1143000" cy="201168"/>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800" b="1" i="0" spc="70">
                <a:solidFill>
                  <a:srgbClr val="36D399"/>
                </a:solidFill>
                <a:latin typeface="Aptos"/>
              </a:rPr>
              <a:t>LOCAL CNN</a:t>
            </a:r>
          </a:p>
        </p:txBody>
      </p:sp>
      <p:sp>
        <p:nvSpPr>
          <p:cNvPr id="54" name="TextBox 53"/>
          <p:cNvSpPr txBox="1"/>
          <p:nvPr/>
        </p:nvSpPr>
        <p:spPr>
          <a:xfrm>
            <a:off x="6821424" y="5541264"/>
            <a:ext cx="1463040" cy="21945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200" b="1" i="0">
                <a:solidFill>
                  <a:srgbClr val="F5F8F6"/>
                </a:solidFill>
                <a:latin typeface="Aptos"/>
              </a:rPr>
              <a:t>maps where</a:t>
            </a:r>
          </a:p>
        </p:txBody>
      </p:sp>
      <p:sp>
        <p:nvSpPr>
          <p:cNvPr id="55" name="TextBox 54"/>
          <p:cNvSpPr txBox="1"/>
          <p:nvPr/>
        </p:nvSpPr>
        <p:spPr>
          <a:xfrm>
            <a:off x="9144000" y="5266944"/>
            <a:ext cx="1234440" cy="201168"/>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800" b="1" i="0" spc="70">
                <a:solidFill>
                  <a:srgbClr val="5DD6D3"/>
                </a:solidFill>
                <a:latin typeface="Aptos"/>
              </a:rPr>
              <a:t>VISION LLM</a:t>
            </a:r>
          </a:p>
        </p:txBody>
      </p:sp>
      <p:sp>
        <p:nvSpPr>
          <p:cNvPr id="56" name="TextBox 55"/>
          <p:cNvSpPr txBox="1"/>
          <p:nvPr/>
        </p:nvSpPr>
        <p:spPr>
          <a:xfrm>
            <a:off x="9144000" y="5541264"/>
            <a:ext cx="1508760" cy="21945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200" b="1" i="0">
                <a:solidFill>
                  <a:srgbClr val="F5F8F6"/>
                </a:solidFill>
                <a:latin typeface="Aptos"/>
              </a:rPr>
              <a:t>checks what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140F"/>
        </a:solidFill>
        <a:effectLst/>
      </p:bgPr>
    </p:bg>
    <p:spTree>
      <p:nvGrpSpPr>
        <p:cNvPr id="1" name=""/>
        <p:cNvGrpSpPr/>
        <p:nvPr/>
      </p:nvGrpSpPr>
      <p:grpSpPr/>
      <p:sp>
        <p:nvSpPr>
          <p:cNvPr id="2" name="Rectangle 1"/>
          <p:cNvSpPr/>
          <p:nvPr/>
        </p:nvSpPr>
        <p:spPr>
          <a:xfrm>
            <a:off x="10168128"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552176"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36224"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320272"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704319"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149840" y="146304"/>
            <a:ext cx="2039112" cy="9144"/>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149840" y="365760"/>
            <a:ext cx="2039112" cy="9144"/>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149840" y="585216"/>
            <a:ext cx="2039112" cy="9144"/>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iamond 9"/>
          <p:cNvSpPr/>
          <p:nvPr/>
        </p:nvSpPr>
        <p:spPr>
          <a:xfrm>
            <a:off x="502920" y="310896"/>
            <a:ext cx="292608" cy="292608"/>
          </a:xfrm>
          <a:prstGeom prst="diamond">
            <a:avLst/>
          </a:prstGeom>
          <a:solidFill>
            <a:srgbClr val="132F25"/>
          </a:solidFill>
          <a:ln w="13970">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iamond 10"/>
          <p:cNvSpPr/>
          <p:nvPr/>
        </p:nvSpPr>
        <p:spPr>
          <a:xfrm>
            <a:off x="598932" y="406908"/>
            <a:ext cx="100584" cy="100584"/>
          </a:xfrm>
          <a:prstGeom prst="diamond">
            <a:avLst/>
          </a:prstGeom>
          <a:solidFill>
            <a:srgbClr val="75E6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3544" y="301752"/>
            <a:ext cx="1920240" cy="21945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000" b="1" i="0">
                <a:solidFill>
                  <a:srgbClr val="F5F8F6"/>
                </a:solidFill>
                <a:latin typeface="Aptos"/>
              </a:rPr>
              <a:t>AGRISENTINEL</a:t>
            </a:r>
          </a:p>
        </p:txBody>
      </p:sp>
      <p:sp>
        <p:nvSpPr>
          <p:cNvPr id="13" name="TextBox 12"/>
          <p:cNvSpPr txBox="1"/>
          <p:nvPr/>
        </p:nvSpPr>
        <p:spPr>
          <a:xfrm>
            <a:off x="923544" y="466344"/>
            <a:ext cx="2011680" cy="146304"/>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650" b="1" i="0" spc="90">
                <a:solidFill>
                  <a:srgbClr val="36D399"/>
                </a:solidFill>
                <a:latin typeface="Aptos"/>
              </a:rPr>
              <a:t>AUTONOMOUS FIELD HEALTH</a:t>
            </a:r>
          </a:p>
        </p:txBody>
      </p:sp>
      <p:sp>
        <p:nvSpPr>
          <p:cNvPr id="14" name="TextBox 13"/>
          <p:cNvSpPr txBox="1"/>
          <p:nvPr/>
        </p:nvSpPr>
        <p:spPr>
          <a:xfrm>
            <a:off x="11082528" y="283464"/>
            <a:ext cx="502920" cy="228600"/>
          </a:xfrm>
          <a:prstGeom prst="rect">
            <a:avLst/>
          </a:prstGeom>
          <a:noFill/>
        </p:spPr>
        <p:txBody>
          <a:bodyPr wrap="square" lIns="27432" rIns="27432" tIns="27432" bIns="27432" anchor="t">
            <a:spAutoFit/>
          </a:bodyPr>
          <a:lstStyle/>
          <a:p>
            <a:pPr algn="r">
              <a:lnSpc>
                <a:spcPct val="105000"/>
              </a:lnSpc>
              <a:spcBef>
                <a:spcPts val="0"/>
              </a:spcBef>
              <a:spcAft>
                <a:spcPts val="0"/>
              </a:spcAft>
            </a:pPr>
            <a:r>
              <a:rPr sz="900" b="1" i="0">
                <a:solidFill>
                  <a:srgbClr val="6E8278"/>
                </a:solidFill>
                <a:latin typeface="Aptos"/>
              </a:rPr>
              <a:t>02</a:t>
            </a:r>
          </a:p>
        </p:txBody>
      </p:sp>
      <p:sp>
        <p:nvSpPr>
          <p:cNvPr id="15" name="TextBox 14"/>
          <p:cNvSpPr txBox="1"/>
          <p:nvPr/>
        </p:nvSpPr>
        <p:spPr>
          <a:xfrm>
            <a:off x="9189720" y="283464"/>
            <a:ext cx="1783080" cy="228600"/>
          </a:xfrm>
          <a:prstGeom prst="rect">
            <a:avLst/>
          </a:prstGeom>
          <a:noFill/>
        </p:spPr>
        <p:txBody>
          <a:bodyPr wrap="square" lIns="27432" rIns="27432" tIns="27432" bIns="27432" anchor="t">
            <a:spAutoFit/>
          </a:bodyPr>
          <a:lstStyle/>
          <a:p>
            <a:pPr algn="r">
              <a:lnSpc>
                <a:spcPct val="105000"/>
              </a:lnSpc>
              <a:spcBef>
                <a:spcPts val="0"/>
              </a:spcBef>
              <a:spcAft>
                <a:spcPts val="0"/>
              </a:spcAft>
            </a:pPr>
            <a:r>
              <a:rPr sz="800" b="1" i="0" spc="100">
                <a:solidFill>
                  <a:srgbClr val="36D399"/>
                </a:solidFill>
                <a:latin typeface="Aptos"/>
              </a:rPr>
              <a:t>PROBLEM</a:t>
            </a:r>
          </a:p>
        </p:txBody>
      </p:sp>
      <p:sp>
        <p:nvSpPr>
          <p:cNvPr id="16" name="TextBox 15"/>
          <p:cNvSpPr txBox="1"/>
          <p:nvPr/>
        </p:nvSpPr>
        <p:spPr>
          <a:xfrm>
            <a:off x="530352" y="896112"/>
            <a:ext cx="10881360" cy="59436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2800" b="1" i="0">
                <a:solidFill>
                  <a:srgbClr val="F5F8F6"/>
                </a:solidFill>
                <a:latin typeface="Aptos"/>
              </a:rPr>
              <a:t>The real problem is detection-to-action latency</a:t>
            </a:r>
          </a:p>
        </p:txBody>
      </p:sp>
      <p:sp>
        <p:nvSpPr>
          <p:cNvPr id="17" name="TextBox 16"/>
          <p:cNvSpPr txBox="1"/>
          <p:nvPr/>
        </p:nvSpPr>
        <p:spPr>
          <a:xfrm>
            <a:off x="548640" y="1481328"/>
            <a:ext cx="10515600" cy="384048"/>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350" b="0" i="0">
                <a:solidFill>
                  <a:srgbClr val="A7B9B0"/>
                </a:solidFill>
                <a:latin typeface="Aptos"/>
              </a:rPr>
              <a:t>A disease label is useful only if it becomes a timely, targeted, and safe field decision.</a:t>
            </a:r>
          </a:p>
        </p:txBody>
      </p:sp>
      <p:sp>
        <p:nvSpPr>
          <p:cNvPr id="18" name="TextBox 17"/>
          <p:cNvSpPr txBox="1"/>
          <p:nvPr/>
        </p:nvSpPr>
        <p:spPr>
          <a:xfrm>
            <a:off x="530352" y="6547104"/>
            <a:ext cx="6217920" cy="16459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750" b="1" i="0" spc="70">
                <a:solidFill>
                  <a:srgbClr val="6E8278"/>
                </a:solidFill>
                <a:latin typeface="Aptos"/>
              </a:rPr>
              <a:t>AAROH AI/ML HACKATHON  •  VISHAL + KHUSHI</a:t>
            </a:r>
          </a:p>
        </p:txBody>
      </p:sp>
      <p:sp>
        <p:nvSpPr>
          <p:cNvPr id="19" name="Rounded Rectangle 18"/>
          <p:cNvSpPr/>
          <p:nvPr/>
        </p:nvSpPr>
        <p:spPr>
          <a:xfrm>
            <a:off x="566928" y="2121408"/>
            <a:ext cx="2560320" cy="2761488"/>
          </a:xfrm>
          <a:prstGeom prst="roundRect">
            <a:avLst/>
          </a:prstGeom>
          <a:solidFill>
            <a:srgbClr val="0C2119"/>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2322576"/>
            <a:ext cx="502920" cy="27432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100" b="1" i="0">
                <a:solidFill>
                  <a:srgbClr val="F97316"/>
                </a:solidFill>
                <a:latin typeface="Aptos"/>
              </a:rPr>
              <a:t>01</a:t>
            </a:r>
          </a:p>
        </p:txBody>
      </p:sp>
      <p:sp>
        <p:nvSpPr>
          <p:cNvPr id="21" name="Rectangle 20"/>
          <p:cNvSpPr/>
          <p:nvPr/>
        </p:nvSpPr>
        <p:spPr>
          <a:xfrm>
            <a:off x="768096" y="2715768"/>
            <a:ext cx="2139696" cy="36576"/>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2971800"/>
            <a:ext cx="2157984" cy="49377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700" b="1" i="0">
                <a:solidFill>
                  <a:srgbClr val="F5F8F6"/>
                </a:solidFill>
                <a:latin typeface="Aptos"/>
              </a:rPr>
              <a:t>Late detection</a:t>
            </a:r>
          </a:p>
        </p:txBody>
      </p:sp>
      <p:sp>
        <p:nvSpPr>
          <p:cNvPr id="23" name="TextBox 22"/>
          <p:cNvSpPr txBox="1"/>
          <p:nvPr/>
        </p:nvSpPr>
        <p:spPr>
          <a:xfrm>
            <a:off x="768096" y="3657600"/>
            <a:ext cx="2139696" cy="94183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200" b="0" i="0">
                <a:solidFill>
                  <a:srgbClr val="A7B9B0"/>
                </a:solidFill>
                <a:latin typeface="Aptos"/>
              </a:rPr>
              <a:t>Only a fraction of the field is inspected; infection can spread before it is noticed.</a:t>
            </a:r>
          </a:p>
        </p:txBody>
      </p:sp>
      <p:sp>
        <p:nvSpPr>
          <p:cNvPr id="24" name="Chevron 23"/>
          <p:cNvSpPr/>
          <p:nvPr/>
        </p:nvSpPr>
        <p:spPr>
          <a:xfrm>
            <a:off x="3218688" y="3337560"/>
            <a:ext cx="201168" cy="347472"/>
          </a:xfrm>
          <a:prstGeom prst="chevron">
            <a:avLst/>
          </a:prstGeom>
          <a:solidFill>
            <a:srgbClr val="6E82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447288" y="2121408"/>
            <a:ext cx="2560320" cy="2761488"/>
          </a:xfrm>
          <a:prstGeom prst="roundRect">
            <a:avLst/>
          </a:prstGeom>
          <a:solidFill>
            <a:srgbClr val="0C2119"/>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48456" y="2322576"/>
            <a:ext cx="502920" cy="27432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100" b="1" i="0">
                <a:solidFill>
                  <a:srgbClr val="F4C84A"/>
                </a:solidFill>
                <a:latin typeface="Aptos"/>
              </a:rPr>
              <a:t>02</a:t>
            </a:r>
          </a:p>
        </p:txBody>
      </p:sp>
      <p:sp>
        <p:nvSpPr>
          <p:cNvPr id="27" name="Rectangle 26"/>
          <p:cNvSpPr/>
          <p:nvPr/>
        </p:nvSpPr>
        <p:spPr>
          <a:xfrm>
            <a:off x="3648456" y="2715768"/>
            <a:ext cx="2139696" cy="36576"/>
          </a:xfrm>
          <a:prstGeom prst="rect">
            <a:avLst/>
          </a:prstGeom>
          <a:solidFill>
            <a:srgbClr val="F4C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48456" y="2971800"/>
            <a:ext cx="2157984" cy="49377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700" b="1" i="0">
                <a:solidFill>
                  <a:srgbClr val="F5F8F6"/>
                </a:solidFill>
                <a:latin typeface="Aptos"/>
              </a:rPr>
              <a:t>Look-alike symptoms</a:t>
            </a:r>
          </a:p>
        </p:txBody>
      </p:sp>
      <p:sp>
        <p:nvSpPr>
          <p:cNvPr id="29" name="TextBox 28"/>
          <p:cNvSpPr txBox="1"/>
          <p:nvPr/>
        </p:nvSpPr>
        <p:spPr>
          <a:xfrm>
            <a:off x="3648456" y="3657600"/>
            <a:ext cx="2139696" cy="94183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200" b="0" i="0">
                <a:solidFill>
                  <a:srgbClr val="A7B9B0"/>
                </a:solidFill>
                <a:latin typeface="Aptos"/>
              </a:rPr>
              <a:t>Blight, spots, stress, and deficiencies can be confused from a single close-up.</a:t>
            </a:r>
          </a:p>
        </p:txBody>
      </p:sp>
      <p:sp>
        <p:nvSpPr>
          <p:cNvPr id="30" name="Chevron 29"/>
          <p:cNvSpPr/>
          <p:nvPr/>
        </p:nvSpPr>
        <p:spPr>
          <a:xfrm>
            <a:off x="6099048" y="3337560"/>
            <a:ext cx="201168" cy="347472"/>
          </a:xfrm>
          <a:prstGeom prst="chevron">
            <a:avLst/>
          </a:prstGeom>
          <a:solidFill>
            <a:srgbClr val="6E82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327648" y="2121408"/>
            <a:ext cx="2560320" cy="2761488"/>
          </a:xfrm>
          <a:prstGeom prst="roundRect">
            <a:avLst/>
          </a:prstGeom>
          <a:solidFill>
            <a:srgbClr val="0C2119"/>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28816" y="2322576"/>
            <a:ext cx="502920" cy="27432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100" b="1" i="0">
                <a:solidFill>
                  <a:srgbClr val="5DD6D3"/>
                </a:solidFill>
                <a:latin typeface="Aptos"/>
              </a:rPr>
              <a:t>03</a:t>
            </a:r>
          </a:p>
        </p:txBody>
      </p:sp>
      <p:sp>
        <p:nvSpPr>
          <p:cNvPr id="33" name="Rectangle 32"/>
          <p:cNvSpPr/>
          <p:nvPr/>
        </p:nvSpPr>
        <p:spPr>
          <a:xfrm>
            <a:off x="6528816" y="2715768"/>
            <a:ext cx="2139696" cy="36576"/>
          </a:xfrm>
          <a:prstGeom prst="rect">
            <a:avLst/>
          </a:prstGeom>
          <a:solidFill>
            <a:srgbClr val="5DD6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28816" y="2971800"/>
            <a:ext cx="2157984" cy="49377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700" b="1" i="0">
                <a:solidFill>
                  <a:srgbClr val="F5F8F6"/>
                </a:solidFill>
                <a:latin typeface="Aptos"/>
              </a:rPr>
              <a:t>No spread intelligence</a:t>
            </a:r>
          </a:p>
        </p:txBody>
      </p:sp>
      <p:sp>
        <p:nvSpPr>
          <p:cNvPr id="35" name="TextBox 34"/>
          <p:cNvSpPr txBox="1"/>
          <p:nvPr/>
        </p:nvSpPr>
        <p:spPr>
          <a:xfrm>
            <a:off x="6528816" y="3657600"/>
            <a:ext cx="2139696" cy="94183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200" b="0" i="0">
                <a:solidFill>
                  <a:srgbClr val="A7B9B0"/>
                </a:solidFill>
                <a:latin typeface="Aptos"/>
              </a:rPr>
              <a:t>A label does not reveal affected area, clusters, direction, or likely impact.</a:t>
            </a:r>
          </a:p>
        </p:txBody>
      </p:sp>
      <p:sp>
        <p:nvSpPr>
          <p:cNvPr id="36" name="Chevron 35"/>
          <p:cNvSpPr/>
          <p:nvPr/>
        </p:nvSpPr>
        <p:spPr>
          <a:xfrm>
            <a:off x="8979408" y="3337560"/>
            <a:ext cx="201168" cy="347472"/>
          </a:xfrm>
          <a:prstGeom prst="chevron">
            <a:avLst/>
          </a:prstGeom>
          <a:solidFill>
            <a:srgbClr val="6E82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9208007" y="2121408"/>
            <a:ext cx="2560320" cy="2761488"/>
          </a:xfrm>
          <a:prstGeom prst="roundRect">
            <a:avLst/>
          </a:prstGeom>
          <a:solidFill>
            <a:srgbClr val="0C2119"/>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09176" y="2322576"/>
            <a:ext cx="502920" cy="27432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100" b="1" i="0">
                <a:solidFill>
                  <a:srgbClr val="FF6B5E"/>
                </a:solidFill>
                <a:latin typeface="Aptos"/>
              </a:rPr>
              <a:t>04</a:t>
            </a:r>
          </a:p>
        </p:txBody>
      </p:sp>
      <p:sp>
        <p:nvSpPr>
          <p:cNvPr id="39" name="Rectangle 38"/>
          <p:cNvSpPr/>
          <p:nvPr/>
        </p:nvSpPr>
        <p:spPr>
          <a:xfrm>
            <a:off x="9409176" y="2715768"/>
            <a:ext cx="2139696" cy="36576"/>
          </a:xfrm>
          <a:prstGeom prst="rect">
            <a:avLst/>
          </a:prstGeom>
          <a:solidFill>
            <a:srgbClr val="FF6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409176" y="2971800"/>
            <a:ext cx="2157984" cy="49377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700" b="1" i="0">
                <a:solidFill>
                  <a:srgbClr val="F5F8F6"/>
                </a:solidFill>
                <a:latin typeface="Aptos"/>
              </a:rPr>
              <a:t>Unsafe next step</a:t>
            </a:r>
          </a:p>
        </p:txBody>
      </p:sp>
      <p:sp>
        <p:nvSpPr>
          <p:cNvPr id="41" name="TextBox 40"/>
          <p:cNvSpPr txBox="1"/>
          <p:nvPr/>
        </p:nvSpPr>
        <p:spPr>
          <a:xfrm>
            <a:off x="9409176" y="3657600"/>
            <a:ext cx="2139696" cy="94183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200" b="0" i="0">
                <a:solidFill>
                  <a:srgbClr val="A7B9B0"/>
                </a:solidFill>
                <a:latin typeface="Aptos"/>
              </a:rPr>
              <a:t>Generic advice can invent a chemical or dosage without evidence or a veto.</a:t>
            </a:r>
          </a:p>
        </p:txBody>
      </p:sp>
      <p:sp>
        <p:nvSpPr>
          <p:cNvPr id="42" name="Rounded Rectangle 41"/>
          <p:cNvSpPr/>
          <p:nvPr/>
        </p:nvSpPr>
        <p:spPr>
          <a:xfrm>
            <a:off x="566928" y="5230368"/>
            <a:ext cx="10991088" cy="841248"/>
          </a:xfrm>
          <a:prstGeom prst="roundRect">
            <a:avLst/>
          </a:prstGeom>
          <a:solidFill>
            <a:srgbClr val="0E2B20"/>
          </a:solidFill>
          <a:ln w="10160">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2960" y="5431536"/>
            <a:ext cx="1097280" cy="201168"/>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800" b="1" i="0" spc="90">
                <a:solidFill>
                  <a:srgbClr val="36D399"/>
                </a:solidFill>
                <a:latin typeface="Aptos"/>
              </a:rPr>
              <a:t>OUR REFRAME</a:t>
            </a:r>
          </a:p>
        </p:txBody>
      </p:sp>
      <p:sp>
        <p:nvSpPr>
          <p:cNvPr id="44" name="TextBox 43"/>
          <p:cNvSpPr txBox="1"/>
          <p:nvPr/>
        </p:nvSpPr>
        <p:spPr>
          <a:xfrm>
            <a:off x="2039112" y="5367528"/>
            <a:ext cx="9079992" cy="393192"/>
          </a:xfrm>
          <a:prstGeom prst="rect">
            <a:avLst/>
          </a:prstGeom>
          <a:noFill/>
        </p:spPr>
        <p:txBody>
          <a:bodyPr wrap="square" lIns="27432" rIns="27432" tIns="27432" bIns="27432" anchor="ctr">
            <a:spAutoFit/>
          </a:bodyPr>
          <a:lstStyle/>
          <a:p>
            <a:pPr algn="l">
              <a:lnSpc>
                <a:spcPct val="105000"/>
              </a:lnSpc>
              <a:spcBef>
                <a:spcPts val="0"/>
              </a:spcBef>
              <a:spcAft>
                <a:spcPts val="0"/>
              </a:spcAft>
            </a:pPr>
            <a:r>
              <a:rPr sz="1600" b="1" i="0">
                <a:solidFill>
                  <a:srgbClr val="F5F8F6"/>
                </a:solidFill>
                <a:latin typeface="Aptos"/>
              </a:rPr>
              <a:t>Do not stop at “What disease is this?”  Answer “Where is it, how serious is it, and what can safely happen next?”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140F"/>
        </a:solidFill>
        <a:effectLst/>
      </p:bgPr>
    </p:bg>
    <p:spTree>
      <p:nvGrpSpPr>
        <p:cNvPr id="1" name=""/>
        <p:cNvGrpSpPr/>
        <p:nvPr/>
      </p:nvGrpSpPr>
      <p:grpSpPr/>
      <p:sp>
        <p:nvSpPr>
          <p:cNvPr id="2" name="Rectangle 1"/>
          <p:cNvSpPr/>
          <p:nvPr/>
        </p:nvSpPr>
        <p:spPr>
          <a:xfrm>
            <a:off x="10168128"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552176"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36224"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320272"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704319"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149840" y="146304"/>
            <a:ext cx="2039112" cy="9144"/>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149840" y="365760"/>
            <a:ext cx="2039112" cy="9144"/>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149840" y="585216"/>
            <a:ext cx="2039112" cy="9144"/>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iamond 9"/>
          <p:cNvSpPr/>
          <p:nvPr/>
        </p:nvSpPr>
        <p:spPr>
          <a:xfrm>
            <a:off x="502920" y="310896"/>
            <a:ext cx="292608" cy="292608"/>
          </a:xfrm>
          <a:prstGeom prst="diamond">
            <a:avLst/>
          </a:prstGeom>
          <a:solidFill>
            <a:srgbClr val="132F25"/>
          </a:solidFill>
          <a:ln w="13970">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iamond 10"/>
          <p:cNvSpPr/>
          <p:nvPr/>
        </p:nvSpPr>
        <p:spPr>
          <a:xfrm>
            <a:off x="598932" y="406908"/>
            <a:ext cx="100584" cy="100584"/>
          </a:xfrm>
          <a:prstGeom prst="diamond">
            <a:avLst/>
          </a:prstGeom>
          <a:solidFill>
            <a:srgbClr val="75E6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3544" y="301752"/>
            <a:ext cx="1920240" cy="21945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000" b="1" i="0">
                <a:solidFill>
                  <a:srgbClr val="F5F8F6"/>
                </a:solidFill>
                <a:latin typeface="Aptos"/>
              </a:rPr>
              <a:t>AGRISENTINEL</a:t>
            </a:r>
          </a:p>
        </p:txBody>
      </p:sp>
      <p:sp>
        <p:nvSpPr>
          <p:cNvPr id="13" name="TextBox 12"/>
          <p:cNvSpPr txBox="1"/>
          <p:nvPr/>
        </p:nvSpPr>
        <p:spPr>
          <a:xfrm>
            <a:off x="923544" y="466344"/>
            <a:ext cx="2011680" cy="146304"/>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650" b="1" i="0" spc="90">
                <a:solidFill>
                  <a:srgbClr val="36D399"/>
                </a:solidFill>
                <a:latin typeface="Aptos"/>
              </a:rPr>
              <a:t>AUTONOMOUS FIELD HEALTH</a:t>
            </a:r>
          </a:p>
        </p:txBody>
      </p:sp>
      <p:sp>
        <p:nvSpPr>
          <p:cNvPr id="14" name="TextBox 13"/>
          <p:cNvSpPr txBox="1"/>
          <p:nvPr/>
        </p:nvSpPr>
        <p:spPr>
          <a:xfrm>
            <a:off x="11082528" y="283464"/>
            <a:ext cx="502920" cy="228600"/>
          </a:xfrm>
          <a:prstGeom prst="rect">
            <a:avLst/>
          </a:prstGeom>
          <a:noFill/>
        </p:spPr>
        <p:txBody>
          <a:bodyPr wrap="square" lIns="27432" rIns="27432" tIns="27432" bIns="27432" anchor="t">
            <a:spAutoFit/>
          </a:bodyPr>
          <a:lstStyle/>
          <a:p>
            <a:pPr algn="r">
              <a:lnSpc>
                <a:spcPct val="105000"/>
              </a:lnSpc>
              <a:spcBef>
                <a:spcPts val="0"/>
              </a:spcBef>
              <a:spcAft>
                <a:spcPts val="0"/>
              </a:spcAft>
            </a:pPr>
            <a:r>
              <a:rPr sz="900" b="1" i="0">
                <a:solidFill>
                  <a:srgbClr val="6E8278"/>
                </a:solidFill>
                <a:latin typeface="Aptos"/>
              </a:rPr>
              <a:t>03</a:t>
            </a:r>
          </a:p>
        </p:txBody>
      </p:sp>
      <p:sp>
        <p:nvSpPr>
          <p:cNvPr id="15" name="TextBox 14"/>
          <p:cNvSpPr txBox="1"/>
          <p:nvPr/>
        </p:nvSpPr>
        <p:spPr>
          <a:xfrm>
            <a:off x="9189720" y="283464"/>
            <a:ext cx="1783080" cy="228600"/>
          </a:xfrm>
          <a:prstGeom prst="rect">
            <a:avLst/>
          </a:prstGeom>
          <a:noFill/>
        </p:spPr>
        <p:txBody>
          <a:bodyPr wrap="square" lIns="27432" rIns="27432" tIns="27432" bIns="27432" anchor="t">
            <a:spAutoFit/>
          </a:bodyPr>
          <a:lstStyle/>
          <a:p>
            <a:pPr algn="r">
              <a:lnSpc>
                <a:spcPct val="105000"/>
              </a:lnSpc>
              <a:spcBef>
                <a:spcPts val="0"/>
              </a:spcBef>
              <a:spcAft>
                <a:spcPts val="0"/>
              </a:spcAft>
            </a:pPr>
            <a:r>
              <a:rPr sz="800" b="1" i="0" spc="100">
                <a:solidFill>
                  <a:srgbClr val="36D399"/>
                </a:solidFill>
                <a:latin typeface="Aptos"/>
              </a:rPr>
              <a:t>SOLUTION</a:t>
            </a:r>
          </a:p>
        </p:txBody>
      </p:sp>
      <p:sp>
        <p:nvSpPr>
          <p:cNvPr id="16" name="TextBox 15"/>
          <p:cNvSpPr txBox="1"/>
          <p:nvPr/>
        </p:nvSpPr>
        <p:spPr>
          <a:xfrm>
            <a:off x="530352" y="896112"/>
            <a:ext cx="10881360" cy="59436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2800" b="1" i="0">
                <a:solidFill>
                  <a:srgbClr val="F5F8F6"/>
                </a:solidFill>
                <a:latin typeface="Aptos"/>
              </a:rPr>
              <a:t>One upload. One autonomous path to action.</a:t>
            </a:r>
          </a:p>
        </p:txBody>
      </p:sp>
      <p:sp>
        <p:nvSpPr>
          <p:cNvPr id="17" name="TextBox 16"/>
          <p:cNvSpPr txBox="1"/>
          <p:nvPr/>
        </p:nvSpPr>
        <p:spPr>
          <a:xfrm>
            <a:off x="548640" y="1481328"/>
            <a:ext cx="10515600" cy="384048"/>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350" b="0" i="0">
                <a:solidFill>
                  <a:srgbClr val="A7B9B0"/>
                </a:solidFill>
                <a:latin typeface="Aptos"/>
              </a:rPr>
              <a:t>The farmer sees the field evidence, the system’s reasoning, and a plan only after verification.</a:t>
            </a:r>
          </a:p>
        </p:txBody>
      </p:sp>
      <p:sp>
        <p:nvSpPr>
          <p:cNvPr id="18" name="TextBox 17"/>
          <p:cNvSpPr txBox="1"/>
          <p:nvPr/>
        </p:nvSpPr>
        <p:spPr>
          <a:xfrm>
            <a:off x="530352" y="6547104"/>
            <a:ext cx="6217920" cy="16459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750" b="1" i="0" spc="70">
                <a:solidFill>
                  <a:srgbClr val="6E8278"/>
                </a:solidFill>
                <a:latin typeface="Aptos"/>
              </a:rPr>
              <a:t>AAROH AI/ML HACKATHON  •  VISHAL + KHUSHI</a:t>
            </a:r>
          </a:p>
        </p:txBody>
      </p:sp>
      <p:sp>
        <p:nvSpPr>
          <p:cNvPr id="19" name="Oval 18"/>
          <p:cNvSpPr/>
          <p:nvPr/>
        </p:nvSpPr>
        <p:spPr>
          <a:xfrm>
            <a:off x="566928" y="2176272"/>
            <a:ext cx="493776" cy="493776"/>
          </a:xfrm>
          <a:prstGeom prst="ellipse">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2194560"/>
            <a:ext cx="493776" cy="457200"/>
          </a:xfrm>
          <a:prstGeom prst="rect">
            <a:avLst/>
          </a:prstGeom>
          <a:noFill/>
        </p:spPr>
        <p:txBody>
          <a:bodyPr wrap="square" lIns="27432" rIns="27432" tIns="27432" bIns="27432" anchor="ctr">
            <a:spAutoFit/>
          </a:bodyPr>
          <a:lstStyle/>
          <a:p>
            <a:pPr algn="ctr">
              <a:lnSpc>
                <a:spcPct val="105000"/>
              </a:lnSpc>
              <a:spcBef>
                <a:spcPts val="0"/>
              </a:spcBef>
              <a:spcAft>
                <a:spcPts val="0"/>
              </a:spcAft>
            </a:pPr>
            <a:r>
              <a:rPr sz="1400" b="1" i="0">
                <a:solidFill>
                  <a:srgbClr val="07140F"/>
                </a:solidFill>
                <a:latin typeface="Aptos"/>
              </a:rPr>
              <a:t>1</a:t>
            </a:r>
          </a:p>
        </p:txBody>
      </p:sp>
      <p:sp>
        <p:nvSpPr>
          <p:cNvPr id="21" name="Rectangle 20"/>
          <p:cNvSpPr/>
          <p:nvPr/>
        </p:nvSpPr>
        <p:spPr>
          <a:xfrm>
            <a:off x="1060704" y="2404872"/>
            <a:ext cx="1755648" cy="27432"/>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hevron 21"/>
          <p:cNvSpPr/>
          <p:nvPr/>
        </p:nvSpPr>
        <p:spPr>
          <a:xfrm>
            <a:off x="2587752" y="2267712"/>
            <a:ext cx="228600" cy="274320"/>
          </a:xfrm>
          <a:prstGeom prst="chevron">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2834640"/>
            <a:ext cx="1645920" cy="21945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900" b="1" i="0" spc="90">
                <a:solidFill>
                  <a:srgbClr val="36D399"/>
                </a:solidFill>
                <a:latin typeface="Aptos"/>
              </a:rPr>
              <a:t>UPLOAD</a:t>
            </a:r>
          </a:p>
        </p:txBody>
      </p:sp>
      <p:sp>
        <p:nvSpPr>
          <p:cNvPr id="24" name="TextBox 23"/>
          <p:cNvSpPr txBox="1"/>
          <p:nvPr/>
        </p:nvSpPr>
        <p:spPr>
          <a:xfrm>
            <a:off x="566928" y="3182112"/>
            <a:ext cx="1783080" cy="566928"/>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300" b="1" i="0">
                <a:solidFill>
                  <a:srgbClr val="F5F8F6"/>
                </a:solidFill>
                <a:latin typeface="Aptos"/>
              </a:rPr>
              <a:t>Drone or phone field image</a:t>
            </a:r>
          </a:p>
        </p:txBody>
      </p:sp>
      <p:sp>
        <p:nvSpPr>
          <p:cNvPr id="25" name="Oval 24"/>
          <p:cNvSpPr/>
          <p:nvPr/>
        </p:nvSpPr>
        <p:spPr>
          <a:xfrm>
            <a:off x="2834640" y="2176272"/>
            <a:ext cx="493776" cy="49377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34640" y="2194560"/>
            <a:ext cx="493776" cy="457200"/>
          </a:xfrm>
          <a:prstGeom prst="rect">
            <a:avLst/>
          </a:prstGeom>
          <a:noFill/>
        </p:spPr>
        <p:txBody>
          <a:bodyPr wrap="square" lIns="27432" rIns="27432" tIns="27432" bIns="27432" anchor="ctr">
            <a:spAutoFit/>
          </a:bodyPr>
          <a:lstStyle/>
          <a:p>
            <a:pPr algn="ctr">
              <a:lnSpc>
                <a:spcPct val="105000"/>
              </a:lnSpc>
              <a:spcBef>
                <a:spcPts val="0"/>
              </a:spcBef>
              <a:spcAft>
                <a:spcPts val="0"/>
              </a:spcAft>
            </a:pPr>
            <a:r>
              <a:rPr sz="1400" b="1" i="0">
                <a:solidFill>
                  <a:srgbClr val="07140F"/>
                </a:solidFill>
                <a:latin typeface="Aptos"/>
              </a:rPr>
              <a:t>2</a:t>
            </a:r>
          </a:p>
        </p:txBody>
      </p:sp>
      <p:sp>
        <p:nvSpPr>
          <p:cNvPr id="27" name="Rectangle 26"/>
          <p:cNvSpPr/>
          <p:nvPr/>
        </p:nvSpPr>
        <p:spPr>
          <a:xfrm>
            <a:off x="3328416" y="2404872"/>
            <a:ext cx="1755648" cy="27432"/>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hevron 27"/>
          <p:cNvSpPr/>
          <p:nvPr/>
        </p:nvSpPr>
        <p:spPr>
          <a:xfrm>
            <a:off x="4855464" y="2267712"/>
            <a:ext cx="228600" cy="274320"/>
          </a:xfrm>
          <a:prstGeom prst="chevron">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34640" y="2834640"/>
            <a:ext cx="1645920" cy="21945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900" b="1" i="0" spc="90">
                <a:solidFill>
                  <a:srgbClr val="F97316"/>
                </a:solidFill>
                <a:latin typeface="Aptos"/>
              </a:rPr>
              <a:t>INSPECT</a:t>
            </a:r>
          </a:p>
        </p:txBody>
      </p:sp>
      <p:sp>
        <p:nvSpPr>
          <p:cNvPr id="30" name="TextBox 29"/>
          <p:cNvSpPr txBox="1"/>
          <p:nvPr/>
        </p:nvSpPr>
        <p:spPr>
          <a:xfrm>
            <a:off x="2834640" y="3182112"/>
            <a:ext cx="1783080" cy="566928"/>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300" b="1" i="0">
                <a:solidFill>
                  <a:srgbClr val="F5F8F6"/>
                </a:solidFill>
                <a:latin typeface="Aptos"/>
              </a:rPr>
              <a:t>8 × 5 tile heatmap</a:t>
            </a:r>
          </a:p>
        </p:txBody>
      </p:sp>
      <p:sp>
        <p:nvSpPr>
          <p:cNvPr id="31" name="Oval 30"/>
          <p:cNvSpPr/>
          <p:nvPr/>
        </p:nvSpPr>
        <p:spPr>
          <a:xfrm>
            <a:off x="5102352" y="2176272"/>
            <a:ext cx="493776" cy="493776"/>
          </a:xfrm>
          <a:prstGeom prst="ellipse">
            <a:avLst/>
          </a:prstGeom>
          <a:solidFill>
            <a:srgbClr val="5DD6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102352" y="2194560"/>
            <a:ext cx="493776" cy="457200"/>
          </a:xfrm>
          <a:prstGeom prst="rect">
            <a:avLst/>
          </a:prstGeom>
          <a:noFill/>
        </p:spPr>
        <p:txBody>
          <a:bodyPr wrap="square" lIns="27432" rIns="27432" tIns="27432" bIns="27432" anchor="ctr">
            <a:spAutoFit/>
          </a:bodyPr>
          <a:lstStyle/>
          <a:p>
            <a:pPr algn="ctr">
              <a:lnSpc>
                <a:spcPct val="105000"/>
              </a:lnSpc>
              <a:spcBef>
                <a:spcPts val="0"/>
              </a:spcBef>
              <a:spcAft>
                <a:spcPts val="0"/>
              </a:spcAft>
            </a:pPr>
            <a:r>
              <a:rPr sz="1400" b="1" i="0">
                <a:solidFill>
                  <a:srgbClr val="07140F"/>
                </a:solidFill>
                <a:latin typeface="Aptos"/>
              </a:rPr>
              <a:t>3</a:t>
            </a:r>
          </a:p>
        </p:txBody>
      </p:sp>
      <p:sp>
        <p:nvSpPr>
          <p:cNvPr id="33" name="Rectangle 32"/>
          <p:cNvSpPr/>
          <p:nvPr/>
        </p:nvSpPr>
        <p:spPr>
          <a:xfrm>
            <a:off x="5596128" y="2404872"/>
            <a:ext cx="1755648" cy="27432"/>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hevron 33"/>
          <p:cNvSpPr/>
          <p:nvPr/>
        </p:nvSpPr>
        <p:spPr>
          <a:xfrm>
            <a:off x="7123176" y="2267712"/>
            <a:ext cx="228600" cy="274320"/>
          </a:xfrm>
          <a:prstGeom prst="chevron">
            <a:avLst/>
          </a:prstGeom>
          <a:solidFill>
            <a:srgbClr val="5DD6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102352" y="2834640"/>
            <a:ext cx="1645920" cy="21945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900" b="1" i="0" spc="90">
                <a:solidFill>
                  <a:srgbClr val="5DD6D3"/>
                </a:solidFill>
                <a:latin typeface="Aptos"/>
              </a:rPr>
              <a:t>FUSE</a:t>
            </a:r>
          </a:p>
        </p:txBody>
      </p:sp>
      <p:sp>
        <p:nvSpPr>
          <p:cNvPr id="36" name="TextBox 35"/>
          <p:cNvSpPr txBox="1"/>
          <p:nvPr/>
        </p:nvSpPr>
        <p:spPr>
          <a:xfrm>
            <a:off x="5102352" y="3182112"/>
            <a:ext cx="1783080" cy="566928"/>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300" b="1" i="0">
                <a:solidFill>
                  <a:srgbClr val="F5F8F6"/>
                </a:solidFill>
                <a:latin typeface="Aptos"/>
              </a:rPr>
              <a:t>Local + whole-image views</a:t>
            </a:r>
          </a:p>
        </p:txBody>
      </p:sp>
      <p:sp>
        <p:nvSpPr>
          <p:cNvPr id="37" name="Oval 36"/>
          <p:cNvSpPr/>
          <p:nvPr/>
        </p:nvSpPr>
        <p:spPr>
          <a:xfrm>
            <a:off x="7370063" y="2176272"/>
            <a:ext cx="493776" cy="493776"/>
          </a:xfrm>
          <a:prstGeom prst="ellipse">
            <a:avLst/>
          </a:prstGeom>
          <a:solidFill>
            <a:srgbClr val="F4C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70063" y="2194560"/>
            <a:ext cx="493776" cy="457200"/>
          </a:xfrm>
          <a:prstGeom prst="rect">
            <a:avLst/>
          </a:prstGeom>
          <a:noFill/>
        </p:spPr>
        <p:txBody>
          <a:bodyPr wrap="square" lIns="27432" rIns="27432" tIns="27432" bIns="27432" anchor="ctr">
            <a:spAutoFit/>
          </a:bodyPr>
          <a:lstStyle/>
          <a:p>
            <a:pPr algn="ctr">
              <a:lnSpc>
                <a:spcPct val="105000"/>
              </a:lnSpc>
              <a:spcBef>
                <a:spcPts val="0"/>
              </a:spcBef>
              <a:spcAft>
                <a:spcPts val="0"/>
              </a:spcAft>
            </a:pPr>
            <a:r>
              <a:rPr sz="1400" b="1" i="0">
                <a:solidFill>
                  <a:srgbClr val="07140F"/>
                </a:solidFill>
                <a:latin typeface="Aptos"/>
              </a:rPr>
              <a:t>4</a:t>
            </a:r>
          </a:p>
        </p:txBody>
      </p:sp>
      <p:sp>
        <p:nvSpPr>
          <p:cNvPr id="39" name="Rectangle 38"/>
          <p:cNvSpPr/>
          <p:nvPr/>
        </p:nvSpPr>
        <p:spPr>
          <a:xfrm>
            <a:off x="7863839" y="2404872"/>
            <a:ext cx="1755648" cy="27432"/>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hevron 39"/>
          <p:cNvSpPr/>
          <p:nvPr/>
        </p:nvSpPr>
        <p:spPr>
          <a:xfrm>
            <a:off x="9390888" y="2267712"/>
            <a:ext cx="228600" cy="274320"/>
          </a:xfrm>
          <a:prstGeom prst="chevron">
            <a:avLst/>
          </a:prstGeom>
          <a:solidFill>
            <a:srgbClr val="F4C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70063" y="2834640"/>
            <a:ext cx="1645920" cy="21945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900" b="1" i="0" spc="90">
                <a:solidFill>
                  <a:srgbClr val="F4C84A"/>
                </a:solidFill>
                <a:latin typeface="Aptos"/>
              </a:rPr>
              <a:t>VERIFY</a:t>
            </a:r>
          </a:p>
        </p:txBody>
      </p:sp>
      <p:sp>
        <p:nvSpPr>
          <p:cNvPr id="42" name="TextBox 41"/>
          <p:cNvSpPr txBox="1"/>
          <p:nvPr/>
        </p:nvSpPr>
        <p:spPr>
          <a:xfrm>
            <a:off x="7370063" y="3182112"/>
            <a:ext cx="1783080" cy="566928"/>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300" b="1" i="0">
                <a:solidFill>
                  <a:srgbClr val="F5F8F6"/>
                </a:solidFill>
                <a:latin typeface="Aptos"/>
              </a:rPr>
              <a:t>Grounding, dosage, allowlist</a:t>
            </a:r>
          </a:p>
        </p:txBody>
      </p:sp>
      <p:sp>
        <p:nvSpPr>
          <p:cNvPr id="43" name="Oval 42"/>
          <p:cNvSpPr/>
          <p:nvPr/>
        </p:nvSpPr>
        <p:spPr>
          <a:xfrm>
            <a:off x="9637776" y="2176272"/>
            <a:ext cx="493776" cy="493776"/>
          </a:xfrm>
          <a:prstGeom prst="ellipse">
            <a:avLst/>
          </a:prstGeom>
          <a:solidFill>
            <a:srgbClr val="75E6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637776" y="2194560"/>
            <a:ext cx="493776" cy="457200"/>
          </a:xfrm>
          <a:prstGeom prst="rect">
            <a:avLst/>
          </a:prstGeom>
          <a:noFill/>
        </p:spPr>
        <p:txBody>
          <a:bodyPr wrap="square" lIns="27432" rIns="27432" tIns="27432" bIns="27432" anchor="ctr">
            <a:spAutoFit/>
          </a:bodyPr>
          <a:lstStyle/>
          <a:p>
            <a:pPr algn="ctr">
              <a:lnSpc>
                <a:spcPct val="105000"/>
              </a:lnSpc>
              <a:spcBef>
                <a:spcPts val="0"/>
              </a:spcBef>
              <a:spcAft>
                <a:spcPts val="0"/>
              </a:spcAft>
            </a:pPr>
            <a:r>
              <a:rPr sz="1400" b="1" i="0">
                <a:solidFill>
                  <a:srgbClr val="07140F"/>
                </a:solidFill>
                <a:latin typeface="Aptos"/>
              </a:rPr>
              <a:t>5</a:t>
            </a:r>
          </a:p>
        </p:txBody>
      </p:sp>
      <p:sp>
        <p:nvSpPr>
          <p:cNvPr id="45" name="TextBox 44"/>
          <p:cNvSpPr txBox="1"/>
          <p:nvPr/>
        </p:nvSpPr>
        <p:spPr>
          <a:xfrm>
            <a:off x="9637776" y="2834640"/>
            <a:ext cx="1645920" cy="21945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900" b="1" i="0" spc="90">
                <a:solidFill>
                  <a:srgbClr val="75E6B8"/>
                </a:solidFill>
                <a:latin typeface="Aptos"/>
              </a:rPr>
              <a:t>ACT</a:t>
            </a:r>
          </a:p>
        </p:txBody>
      </p:sp>
      <p:sp>
        <p:nvSpPr>
          <p:cNvPr id="46" name="TextBox 45"/>
          <p:cNvSpPr txBox="1"/>
          <p:nvPr/>
        </p:nvSpPr>
        <p:spPr>
          <a:xfrm>
            <a:off x="9637776" y="3182112"/>
            <a:ext cx="1783080" cy="566928"/>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300" b="1" i="0">
                <a:solidFill>
                  <a:srgbClr val="F5F8F6"/>
                </a:solidFill>
                <a:latin typeface="Aptos"/>
              </a:rPr>
              <a:t>Schedule + farmer brief</a:t>
            </a:r>
          </a:p>
        </p:txBody>
      </p:sp>
      <p:sp>
        <p:nvSpPr>
          <p:cNvPr id="47" name="Rounded Rectangle 46"/>
          <p:cNvSpPr/>
          <p:nvPr/>
        </p:nvSpPr>
        <p:spPr>
          <a:xfrm>
            <a:off x="566928" y="4261104"/>
            <a:ext cx="2542032" cy="1371600"/>
          </a:xfrm>
          <a:prstGeom prst="roundRect">
            <a:avLst/>
          </a:prstGeom>
          <a:solidFill>
            <a:srgbClr val="0C2119"/>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66928" y="4261104"/>
            <a:ext cx="2542032" cy="45720"/>
          </a:xfrm>
          <a:prstGeom prst="rect">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49808" y="4498848"/>
            <a:ext cx="2148840" cy="25603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300" b="1" i="0">
                <a:solidFill>
                  <a:srgbClr val="F5F8F6"/>
                </a:solidFill>
                <a:latin typeface="Aptos"/>
              </a:rPr>
              <a:t>Infection map</a:t>
            </a:r>
          </a:p>
        </p:txBody>
      </p:sp>
      <p:sp>
        <p:nvSpPr>
          <p:cNvPr id="50" name="TextBox 49"/>
          <p:cNvSpPr txBox="1"/>
          <p:nvPr/>
        </p:nvSpPr>
        <p:spPr>
          <a:xfrm>
            <a:off x="749808" y="4901184"/>
            <a:ext cx="2148840" cy="50292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969" b="0" i="0">
                <a:solidFill>
                  <a:srgbClr val="A7B9B0"/>
                </a:solidFill>
                <a:latin typeface="Aptos"/>
              </a:rPr>
              <a:t>Progressive tile heatmap with confidence escalation</a:t>
            </a:r>
          </a:p>
        </p:txBody>
      </p:sp>
      <p:sp>
        <p:nvSpPr>
          <p:cNvPr id="51" name="Rounded Rectangle 50"/>
          <p:cNvSpPr/>
          <p:nvPr/>
        </p:nvSpPr>
        <p:spPr>
          <a:xfrm>
            <a:off x="3337560" y="4261104"/>
            <a:ext cx="2542032" cy="1371600"/>
          </a:xfrm>
          <a:prstGeom prst="roundRect">
            <a:avLst/>
          </a:prstGeom>
          <a:solidFill>
            <a:srgbClr val="0C2119"/>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337560" y="4261104"/>
            <a:ext cx="2542032" cy="4572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520440" y="4498848"/>
            <a:ext cx="2148840" cy="25603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300" b="1" i="0">
                <a:solidFill>
                  <a:srgbClr val="F5F8F6"/>
                </a:solidFill>
                <a:latin typeface="Aptos"/>
              </a:rPr>
              <a:t>Spread intelligence</a:t>
            </a:r>
          </a:p>
        </p:txBody>
      </p:sp>
      <p:sp>
        <p:nvSpPr>
          <p:cNvPr id="54" name="TextBox 53"/>
          <p:cNvSpPr txBox="1"/>
          <p:nvPr/>
        </p:nvSpPr>
        <p:spPr>
          <a:xfrm>
            <a:off x="3520440" y="4901184"/>
            <a:ext cx="2148840" cy="50292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969" b="0" i="0">
                <a:solidFill>
                  <a:srgbClr val="A7B9B0"/>
                </a:solidFill>
                <a:latin typeface="Aptos"/>
              </a:rPr>
              <a:t>% affected, clusters, direction, yield-risk estimate</a:t>
            </a:r>
          </a:p>
        </p:txBody>
      </p:sp>
      <p:sp>
        <p:nvSpPr>
          <p:cNvPr id="55" name="Rounded Rectangle 54"/>
          <p:cNvSpPr/>
          <p:nvPr/>
        </p:nvSpPr>
        <p:spPr>
          <a:xfrm>
            <a:off x="6108192" y="4261104"/>
            <a:ext cx="2542032" cy="1371600"/>
          </a:xfrm>
          <a:prstGeom prst="roundRect">
            <a:avLst/>
          </a:prstGeom>
          <a:solidFill>
            <a:srgbClr val="0C2119"/>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108192" y="4261104"/>
            <a:ext cx="2542032" cy="45720"/>
          </a:xfrm>
          <a:prstGeom prst="rect">
            <a:avLst/>
          </a:prstGeom>
          <a:solidFill>
            <a:srgbClr val="F4C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291072" y="4498848"/>
            <a:ext cx="2148840" cy="25603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300" b="1" i="0">
                <a:solidFill>
                  <a:srgbClr val="F5F8F6"/>
                </a:solidFill>
                <a:latin typeface="Aptos"/>
              </a:rPr>
              <a:t>Verified plan</a:t>
            </a:r>
          </a:p>
        </p:txBody>
      </p:sp>
      <p:sp>
        <p:nvSpPr>
          <p:cNvPr id="58" name="TextBox 57"/>
          <p:cNvSpPr txBox="1"/>
          <p:nvPr/>
        </p:nvSpPr>
        <p:spPr>
          <a:xfrm>
            <a:off x="6291072" y="4901184"/>
            <a:ext cx="2148840" cy="50292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969" b="0" i="0">
                <a:solidFill>
                  <a:srgbClr val="A7B9B0"/>
                </a:solidFill>
                <a:latin typeface="Aptos"/>
              </a:rPr>
              <a:t>Source-backed treatment with PASS / REWRITE / BLOCK</a:t>
            </a:r>
          </a:p>
        </p:txBody>
      </p:sp>
      <p:sp>
        <p:nvSpPr>
          <p:cNvPr id="59" name="Rounded Rectangle 58"/>
          <p:cNvSpPr/>
          <p:nvPr/>
        </p:nvSpPr>
        <p:spPr>
          <a:xfrm>
            <a:off x="8878824" y="4261104"/>
            <a:ext cx="2542032" cy="1371600"/>
          </a:xfrm>
          <a:prstGeom prst="roundRect">
            <a:avLst/>
          </a:prstGeom>
          <a:solidFill>
            <a:srgbClr val="0C2119"/>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878824" y="4261104"/>
            <a:ext cx="2542032" cy="45720"/>
          </a:xfrm>
          <a:prstGeom prst="rect">
            <a:avLst/>
          </a:prstGeom>
          <a:solidFill>
            <a:srgbClr val="5DD6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061703" y="4498848"/>
            <a:ext cx="2148840" cy="25603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300" b="1" i="0">
                <a:solidFill>
                  <a:srgbClr val="F5F8F6"/>
                </a:solidFill>
                <a:latin typeface="Aptos"/>
              </a:rPr>
              <a:t>Farmer action</a:t>
            </a:r>
          </a:p>
        </p:txBody>
      </p:sp>
      <p:sp>
        <p:nvSpPr>
          <p:cNvPr id="62" name="TextBox 61"/>
          <p:cNvSpPr txBox="1"/>
          <p:nvPr/>
        </p:nvSpPr>
        <p:spPr>
          <a:xfrm>
            <a:off x="9061703" y="4901184"/>
            <a:ext cx="2148840" cy="50292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969" b="0" i="0">
                <a:solidFill>
                  <a:srgbClr val="A7B9B0"/>
                </a:solidFill>
                <a:latin typeface="Aptos"/>
              </a:rPr>
              <a:t>Day-by-day schedule, cost band, rescan, EN / HI brief</a:t>
            </a:r>
          </a:p>
        </p:txBody>
      </p:sp>
      <p:sp>
        <p:nvSpPr>
          <p:cNvPr id="63" name="TextBox 62"/>
          <p:cNvSpPr txBox="1"/>
          <p:nvPr/>
        </p:nvSpPr>
        <p:spPr>
          <a:xfrm>
            <a:off x="585216" y="5925312"/>
            <a:ext cx="6949440" cy="27432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300" b="1" i="0">
                <a:solidFill>
                  <a:srgbClr val="75E6B8"/>
                </a:solidFill>
                <a:latin typeface="Aptos"/>
              </a:rPr>
              <a:t>The architecture changes control flow — not just wording.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140F"/>
        </a:solidFill>
        <a:effectLst/>
      </p:bgPr>
    </p:bg>
    <p:spTree>
      <p:nvGrpSpPr>
        <p:cNvPr id="1" name=""/>
        <p:cNvGrpSpPr/>
        <p:nvPr/>
      </p:nvGrpSpPr>
      <p:grpSpPr/>
      <p:sp>
        <p:nvSpPr>
          <p:cNvPr id="2" name="Rectangle 1"/>
          <p:cNvSpPr/>
          <p:nvPr/>
        </p:nvSpPr>
        <p:spPr>
          <a:xfrm>
            <a:off x="10168128"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552176"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36224"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320272"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704319"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149840" y="146304"/>
            <a:ext cx="2039112" cy="9144"/>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149840" y="365760"/>
            <a:ext cx="2039112" cy="9144"/>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149840" y="585216"/>
            <a:ext cx="2039112" cy="9144"/>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iamond 9"/>
          <p:cNvSpPr/>
          <p:nvPr/>
        </p:nvSpPr>
        <p:spPr>
          <a:xfrm>
            <a:off x="502920" y="310896"/>
            <a:ext cx="292608" cy="292608"/>
          </a:xfrm>
          <a:prstGeom prst="diamond">
            <a:avLst/>
          </a:prstGeom>
          <a:solidFill>
            <a:srgbClr val="132F25"/>
          </a:solidFill>
          <a:ln w="13970">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iamond 10"/>
          <p:cNvSpPr/>
          <p:nvPr/>
        </p:nvSpPr>
        <p:spPr>
          <a:xfrm>
            <a:off x="598932" y="406908"/>
            <a:ext cx="100584" cy="100584"/>
          </a:xfrm>
          <a:prstGeom prst="diamond">
            <a:avLst/>
          </a:prstGeom>
          <a:solidFill>
            <a:srgbClr val="75E6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3544" y="301752"/>
            <a:ext cx="1920240" cy="21945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000" b="1" i="0">
                <a:solidFill>
                  <a:srgbClr val="F5F8F6"/>
                </a:solidFill>
                <a:latin typeface="Aptos"/>
              </a:rPr>
              <a:t>AGRISENTINEL</a:t>
            </a:r>
          </a:p>
        </p:txBody>
      </p:sp>
      <p:sp>
        <p:nvSpPr>
          <p:cNvPr id="13" name="TextBox 12"/>
          <p:cNvSpPr txBox="1"/>
          <p:nvPr/>
        </p:nvSpPr>
        <p:spPr>
          <a:xfrm>
            <a:off x="923544" y="466344"/>
            <a:ext cx="2011680" cy="146304"/>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650" b="1" i="0" spc="90">
                <a:solidFill>
                  <a:srgbClr val="36D399"/>
                </a:solidFill>
                <a:latin typeface="Aptos"/>
              </a:rPr>
              <a:t>AUTONOMOUS FIELD HEALTH</a:t>
            </a:r>
          </a:p>
        </p:txBody>
      </p:sp>
      <p:sp>
        <p:nvSpPr>
          <p:cNvPr id="14" name="TextBox 13"/>
          <p:cNvSpPr txBox="1"/>
          <p:nvPr/>
        </p:nvSpPr>
        <p:spPr>
          <a:xfrm>
            <a:off x="11082528" y="283464"/>
            <a:ext cx="502920" cy="228600"/>
          </a:xfrm>
          <a:prstGeom prst="rect">
            <a:avLst/>
          </a:prstGeom>
          <a:noFill/>
        </p:spPr>
        <p:txBody>
          <a:bodyPr wrap="square" lIns="27432" rIns="27432" tIns="27432" bIns="27432" anchor="t">
            <a:spAutoFit/>
          </a:bodyPr>
          <a:lstStyle/>
          <a:p>
            <a:pPr algn="r">
              <a:lnSpc>
                <a:spcPct val="105000"/>
              </a:lnSpc>
              <a:spcBef>
                <a:spcPts val="0"/>
              </a:spcBef>
              <a:spcAft>
                <a:spcPts val="0"/>
              </a:spcAft>
            </a:pPr>
            <a:r>
              <a:rPr sz="900" b="1" i="0">
                <a:solidFill>
                  <a:srgbClr val="6E8278"/>
                </a:solidFill>
                <a:latin typeface="Aptos"/>
              </a:rPr>
              <a:t>04</a:t>
            </a:r>
          </a:p>
        </p:txBody>
      </p:sp>
      <p:sp>
        <p:nvSpPr>
          <p:cNvPr id="15" name="TextBox 14"/>
          <p:cNvSpPr txBox="1"/>
          <p:nvPr/>
        </p:nvSpPr>
        <p:spPr>
          <a:xfrm>
            <a:off x="9189720" y="283464"/>
            <a:ext cx="1783080" cy="228600"/>
          </a:xfrm>
          <a:prstGeom prst="rect">
            <a:avLst/>
          </a:prstGeom>
          <a:noFill/>
        </p:spPr>
        <p:txBody>
          <a:bodyPr wrap="square" lIns="27432" rIns="27432" tIns="27432" bIns="27432" anchor="t">
            <a:spAutoFit/>
          </a:bodyPr>
          <a:lstStyle/>
          <a:p>
            <a:pPr algn="r">
              <a:lnSpc>
                <a:spcPct val="105000"/>
              </a:lnSpc>
              <a:spcBef>
                <a:spcPts val="0"/>
              </a:spcBef>
              <a:spcAft>
                <a:spcPts val="0"/>
              </a:spcAft>
            </a:pPr>
            <a:r>
              <a:rPr sz="800" b="1" i="0" spc="100">
                <a:solidFill>
                  <a:srgbClr val="36D399"/>
                </a:solidFill>
                <a:latin typeface="Aptos"/>
              </a:rPr>
              <a:t>DIFFERENTIATOR</a:t>
            </a:r>
          </a:p>
        </p:txBody>
      </p:sp>
      <p:sp>
        <p:nvSpPr>
          <p:cNvPr id="16" name="TextBox 15"/>
          <p:cNvSpPr txBox="1"/>
          <p:nvPr/>
        </p:nvSpPr>
        <p:spPr>
          <a:xfrm>
            <a:off x="530352" y="896112"/>
            <a:ext cx="10881360" cy="59436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2800" b="1" i="0">
                <a:solidFill>
                  <a:srgbClr val="F5F8F6"/>
                </a:solidFill>
                <a:latin typeface="Aptos"/>
              </a:rPr>
              <a:t>Hybrid detection: local speed + global context</a:t>
            </a:r>
          </a:p>
        </p:txBody>
      </p:sp>
      <p:sp>
        <p:nvSpPr>
          <p:cNvPr id="17" name="TextBox 16"/>
          <p:cNvSpPr txBox="1"/>
          <p:nvPr/>
        </p:nvSpPr>
        <p:spPr>
          <a:xfrm>
            <a:off x="548640" y="1481328"/>
            <a:ext cx="10515600" cy="384048"/>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350" b="0" i="0">
                <a:solidFill>
                  <a:srgbClr val="A7B9B0"/>
                </a:solidFill>
                <a:latin typeface="Aptos"/>
              </a:rPr>
              <a:t>EfficientNet-B0 and a vision LLM inspect the same image independently before a policy-driven fusion step.</a:t>
            </a:r>
          </a:p>
        </p:txBody>
      </p:sp>
      <p:sp>
        <p:nvSpPr>
          <p:cNvPr id="18" name="TextBox 17"/>
          <p:cNvSpPr txBox="1"/>
          <p:nvPr/>
        </p:nvSpPr>
        <p:spPr>
          <a:xfrm>
            <a:off x="530352" y="6547104"/>
            <a:ext cx="6217920" cy="16459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750" b="1" i="0" spc="70">
                <a:solidFill>
                  <a:srgbClr val="6E8278"/>
                </a:solidFill>
                <a:latin typeface="Aptos"/>
              </a:rPr>
              <a:t>AAROH AI/ML HACKATHON  •  VISHAL + KHUSHI</a:t>
            </a:r>
          </a:p>
        </p:txBody>
      </p:sp>
      <p:sp>
        <p:nvSpPr>
          <p:cNvPr id="19" name="TextBox 18"/>
          <p:cNvSpPr txBox="1"/>
          <p:nvPr/>
        </p:nvSpPr>
        <p:spPr>
          <a:xfrm>
            <a:off x="603504" y="2112264"/>
            <a:ext cx="1051560" cy="25603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900" b="1" i="0" spc="80">
                <a:solidFill>
                  <a:srgbClr val="A7B9B0"/>
                </a:solidFill>
                <a:latin typeface="Aptos"/>
              </a:rPr>
              <a:t>FIELD IMAGE</a:t>
            </a:r>
          </a:p>
        </p:txBody>
      </p:sp>
      <p:sp>
        <p:nvSpPr>
          <p:cNvPr id="20" name="Rounded Rectangle 19"/>
          <p:cNvSpPr/>
          <p:nvPr/>
        </p:nvSpPr>
        <p:spPr>
          <a:xfrm>
            <a:off x="585216" y="2468880"/>
            <a:ext cx="1417320" cy="1024128"/>
          </a:xfrm>
          <a:prstGeom prst="roundRect">
            <a:avLst/>
          </a:prstGeom>
          <a:solidFill>
            <a:srgbClr val="0C2119"/>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85216" y="2468880"/>
            <a:ext cx="54864" cy="1024128"/>
          </a:xfrm>
          <a:prstGeom prst="rect">
            <a:avLst/>
          </a:prstGeom>
          <a:solidFill>
            <a:srgbClr val="F5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2615184"/>
            <a:ext cx="1124712" cy="292608"/>
          </a:xfrm>
          <a:prstGeom prst="rect">
            <a:avLst/>
          </a:prstGeom>
          <a:noFill/>
        </p:spPr>
        <p:txBody>
          <a:bodyPr wrap="square" lIns="27432" rIns="27432" tIns="27432" bIns="27432" anchor="ctr">
            <a:spAutoFit/>
          </a:bodyPr>
          <a:lstStyle/>
          <a:p>
            <a:pPr algn="l">
              <a:lnSpc>
                <a:spcPct val="105000"/>
              </a:lnSpc>
              <a:spcBef>
                <a:spcPts val="0"/>
              </a:spcBef>
              <a:spcAft>
                <a:spcPts val="0"/>
              </a:spcAft>
            </a:pPr>
            <a:r>
              <a:rPr sz="1400" b="1" i="0">
                <a:solidFill>
                  <a:srgbClr val="F5F8F6"/>
                </a:solidFill>
                <a:latin typeface="Aptos"/>
              </a:rPr>
              <a:t>Image</a:t>
            </a:r>
          </a:p>
        </p:txBody>
      </p:sp>
      <p:sp>
        <p:nvSpPr>
          <p:cNvPr id="23" name="TextBox 22"/>
          <p:cNvSpPr txBox="1"/>
          <p:nvPr/>
        </p:nvSpPr>
        <p:spPr>
          <a:xfrm>
            <a:off x="768096" y="2953512"/>
            <a:ext cx="1124712" cy="420624"/>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950" b="0" i="0">
                <a:solidFill>
                  <a:srgbClr val="A7B9B0"/>
                </a:solidFill>
                <a:latin typeface="Aptos"/>
              </a:rPr>
              <a:t>Drone / phone field capture</a:t>
            </a:r>
          </a:p>
        </p:txBody>
      </p:sp>
      <p:sp>
        <p:nvSpPr>
          <p:cNvPr id="24" name="Chevron 23"/>
          <p:cNvSpPr/>
          <p:nvPr/>
        </p:nvSpPr>
        <p:spPr>
          <a:xfrm>
            <a:off x="2130552" y="2825496"/>
            <a:ext cx="320040" cy="310896"/>
          </a:xfrm>
          <a:prstGeom prst="chevron">
            <a:avLst/>
          </a:prstGeom>
          <a:solidFill>
            <a:srgbClr val="6E82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2587752" y="1993392"/>
            <a:ext cx="2148840" cy="1554480"/>
          </a:xfrm>
          <a:prstGeom prst="roundRect">
            <a:avLst/>
          </a:prstGeom>
          <a:solidFill>
            <a:srgbClr val="102B21"/>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587752" y="1993392"/>
            <a:ext cx="54864" cy="1554480"/>
          </a:xfrm>
          <a:prstGeom prst="rect">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70632" y="2139696"/>
            <a:ext cx="1856232" cy="292608"/>
          </a:xfrm>
          <a:prstGeom prst="rect">
            <a:avLst/>
          </a:prstGeom>
          <a:noFill/>
        </p:spPr>
        <p:txBody>
          <a:bodyPr wrap="square" lIns="27432" rIns="27432" tIns="27432" bIns="27432" anchor="ctr">
            <a:spAutoFit/>
          </a:bodyPr>
          <a:lstStyle/>
          <a:p>
            <a:pPr algn="l">
              <a:lnSpc>
                <a:spcPct val="105000"/>
              </a:lnSpc>
              <a:spcBef>
                <a:spcPts val="0"/>
              </a:spcBef>
              <a:spcAft>
                <a:spcPts val="0"/>
              </a:spcAft>
            </a:pPr>
            <a:r>
              <a:rPr sz="1500" b="1" i="0">
                <a:solidFill>
                  <a:srgbClr val="F5F8F6"/>
                </a:solidFill>
                <a:latin typeface="Aptos"/>
              </a:rPr>
              <a:t>EfficientNet-B0</a:t>
            </a:r>
          </a:p>
        </p:txBody>
      </p:sp>
      <p:sp>
        <p:nvSpPr>
          <p:cNvPr id="28" name="TextBox 27"/>
          <p:cNvSpPr txBox="1"/>
          <p:nvPr/>
        </p:nvSpPr>
        <p:spPr>
          <a:xfrm>
            <a:off x="2770632" y="2478024"/>
            <a:ext cx="1856232" cy="95097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950" b="0" i="0">
                <a:solidFill>
                  <a:srgbClr val="A7B9B0"/>
                </a:solidFill>
                <a:latin typeface="Aptos"/>
              </a:rPr>
              <a:t>Local ONNX model
40 tile predictions
Maps WHERE</a:t>
            </a:r>
          </a:p>
        </p:txBody>
      </p:sp>
      <p:sp>
        <p:nvSpPr>
          <p:cNvPr id="29" name="Rounded Rectangle 28"/>
          <p:cNvSpPr/>
          <p:nvPr/>
        </p:nvSpPr>
        <p:spPr>
          <a:xfrm>
            <a:off x="2587752" y="3730752"/>
            <a:ext cx="2148840" cy="1554480"/>
          </a:xfrm>
          <a:prstGeom prst="roundRect">
            <a:avLst/>
          </a:prstGeom>
          <a:solidFill>
            <a:srgbClr val="102B21"/>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587752" y="3730752"/>
            <a:ext cx="54864" cy="1554480"/>
          </a:xfrm>
          <a:prstGeom prst="rect">
            <a:avLst/>
          </a:prstGeom>
          <a:solidFill>
            <a:srgbClr val="5DD6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70632" y="3877056"/>
            <a:ext cx="1856232" cy="292608"/>
          </a:xfrm>
          <a:prstGeom prst="rect">
            <a:avLst/>
          </a:prstGeom>
          <a:noFill/>
        </p:spPr>
        <p:txBody>
          <a:bodyPr wrap="square" lIns="27432" rIns="27432" tIns="27432" bIns="27432" anchor="ctr">
            <a:spAutoFit/>
          </a:bodyPr>
          <a:lstStyle/>
          <a:p>
            <a:pPr algn="l">
              <a:lnSpc>
                <a:spcPct val="105000"/>
              </a:lnSpc>
              <a:spcBef>
                <a:spcPts val="0"/>
              </a:spcBef>
              <a:spcAft>
                <a:spcPts val="0"/>
              </a:spcAft>
            </a:pPr>
            <a:r>
              <a:rPr sz="1500" b="1" i="0">
                <a:solidFill>
                  <a:srgbClr val="F5F8F6"/>
                </a:solidFill>
                <a:latin typeface="Aptos"/>
              </a:rPr>
              <a:t>Vision LLM</a:t>
            </a:r>
          </a:p>
        </p:txBody>
      </p:sp>
      <p:sp>
        <p:nvSpPr>
          <p:cNvPr id="32" name="TextBox 31"/>
          <p:cNvSpPr txBox="1"/>
          <p:nvPr/>
        </p:nvSpPr>
        <p:spPr>
          <a:xfrm>
            <a:off x="2770632" y="4215384"/>
            <a:ext cx="1856232" cy="95097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950" b="0" i="0">
                <a:solidFill>
                  <a:srgbClr val="A7B9B0"/>
                </a:solidFill>
                <a:latin typeface="Aptos"/>
              </a:rPr>
              <a:t>Gemini / GPT-4.1
Whole-image reasoning
Checks WHAT</a:t>
            </a:r>
          </a:p>
        </p:txBody>
      </p:sp>
      <p:sp>
        <p:nvSpPr>
          <p:cNvPr id="33" name="Chevron 32"/>
          <p:cNvSpPr/>
          <p:nvPr/>
        </p:nvSpPr>
        <p:spPr>
          <a:xfrm>
            <a:off x="4956048" y="2587752"/>
            <a:ext cx="320040" cy="310896"/>
          </a:xfrm>
          <a:prstGeom prst="chevron">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hevron 33"/>
          <p:cNvSpPr/>
          <p:nvPr/>
        </p:nvSpPr>
        <p:spPr>
          <a:xfrm>
            <a:off x="4956048" y="4325112"/>
            <a:ext cx="320040" cy="310896"/>
          </a:xfrm>
          <a:prstGeom prst="chevron">
            <a:avLst/>
          </a:prstGeom>
          <a:solidFill>
            <a:srgbClr val="5DD6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394960" y="2770632"/>
            <a:ext cx="2441448" cy="1600200"/>
          </a:xfrm>
          <a:prstGeom prst="roundRect">
            <a:avLst/>
          </a:prstGeom>
          <a:solidFill>
            <a:srgbClr val="282511"/>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394960" y="2770632"/>
            <a:ext cx="54864" cy="1600200"/>
          </a:xfrm>
          <a:prstGeom prst="rect">
            <a:avLst/>
          </a:prstGeom>
          <a:solidFill>
            <a:srgbClr val="F4C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577840" y="2916936"/>
            <a:ext cx="2148840" cy="292608"/>
          </a:xfrm>
          <a:prstGeom prst="rect">
            <a:avLst/>
          </a:prstGeom>
          <a:noFill/>
        </p:spPr>
        <p:txBody>
          <a:bodyPr wrap="square" lIns="27432" rIns="27432" tIns="27432" bIns="27432" anchor="ctr">
            <a:spAutoFit/>
          </a:bodyPr>
          <a:lstStyle/>
          <a:p>
            <a:pPr algn="l">
              <a:lnSpc>
                <a:spcPct val="105000"/>
              </a:lnSpc>
              <a:spcBef>
                <a:spcPts val="0"/>
              </a:spcBef>
              <a:spcAft>
                <a:spcPts val="0"/>
              </a:spcAft>
            </a:pPr>
            <a:r>
              <a:rPr sz="1600" b="1" i="0">
                <a:solidFill>
                  <a:srgbClr val="F5F8F6"/>
                </a:solidFill>
                <a:latin typeface="Aptos"/>
              </a:rPr>
              <a:t>Decision Fusion Agent</a:t>
            </a:r>
          </a:p>
        </p:txBody>
      </p:sp>
      <p:sp>
        <p:nvSpPr>
          <p:cNvPr id="38" name="TextBox 37"/>
          <p:cNvSpPr txBox="1"/>
          <p:nvPr/>
        </p:nvSpPr>
        <p:spPr>
          <a:xfrm>
            <a:off x="5577840" y="3255263"/>
            <a:ext cx="2148840" cy="996695"/>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950" b="0" i="0">
                <a:solidFill>
                  <a:srgbClr val="A7B9B0"/>
                </a:solidFill>
                <a:latin typeface="Aptos"/>
              </a:rPr>
              <a:t>Reconciles crop, disease, visible symptoms, and disagreement policy</a:t>
            </a:r>
          </a:p>
        </p:txBody>
      </p:sp>
      <p:sp>
        <p:nvSpPr>
          <p:cNvPr id="39" name="Chevron 38"/>
          <p:cNvSpPr/>
          <p:nvPr/>
        </p:nvSpPr>
        <p:spPr>
          <a:xfrm>
            <a:off x="8001000" y="3410712"/>
            <a:ext cx="329184" cy="310896"/>
          </a:xfrm>
          <a:prstGeom prst="chevron">
            <a:avLst/>
          </a:prstGeom>
          <a:solidFill>
            <a:srgbClr val="F4C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430768" y="2770632"/>
            <a:ext cx="1700784" cy="1600200"/>
          </a:xfrm>
          <a:prstGeom prst="roundRect">
            <a:avLst/>
          </a:prstGeom>
          <a:solidFill>
            <a:srgbClr val="102B21"/>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430768" y="2770632"/>
            <a:ext cx="54864" cy="1600200"/>
          </a:xfrm>
          <a:prstGeom prst="rect">
            <a:avLst/>
          </a:prstGeom>
          <a:solidFill>
            <a:srgbClr val="75E6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13648" y="2916936"/>
            <a:ext cx="1408176" cy="292608"/>
          </a:xfrm>
          <a:prstGeom prst="rect">
            <a:avLst/>
          </a:prstGeom>
          <a:noFill/>
        </p:spPr>
        <p:txBody>
          <a:bodyPr wrap="square" lIns="27432" rIns="27432" tIns="27432" bIns="27432" anchor="ctr">
            <a:spAutoFit/>
          </a:bodyPr>
          <a:lstStyle/>
          <a:p>
            <a:pPr algn="l">
              <a:lnSpc>
                <a:spcPct val="105000"/>
              </a:lnSpc>
              <a:spcBef>
                <a:spcPts val="0"/>
              </a:spcBef>
              <a:spcAft>
                <a:spcPts val="0"/>
              </a:spcAft>
            </a:pPr>
            <a:r>
              <a:rPr sz="1500" b="1" i="0">
                <a:solidFill>
                  <a:srgbClr val="F5F8F6"/>
                </a:solidFill>
                <a:latin typeface="Aptos"/>
              </a:rPr>
              <a:t>Final diagnosis</a:t>
            </a:r>
          </a:p>
        </p:txBody>
      </p:sp>
      <p:sp>
        <p:nvSpPr>
          <p:cNvPr id="43" name="TextBox 42"/>
          <p:cNvSpPr txBox="1"/>
          <p:nvPr/>
        </p:nvSpPr>
        <p:spPr>
          <a:xfrm>
            <a:off x="8613648" y="3255263"/>
            <a:ext cx="1408176" cy="996695"/>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950" b="0" i="0">
                <a:solidFill>
                  <a:srgbClr val="A7B9B0"/>
                </a:solidFill>
                <a:latin typeface="Aptos"/>
              </a:rPr>
              <a:t>Disease + confidence
CNN spatial map preserved</a:t>
            </a:r>
          </a:p>
        </p:txBody>
      </p:sp>
      <p:sp>
        <p:nvSpPr>
          <p:cNvPr id="44" name="Chevron 43"/>
          <p:cNvSpPr/>
          <p:nvPr/>
        </p:nvSpPr>
        <p:spPr>
          <a:xfrm>
            <a:off x="10268712" y="3410712"/>
            <a:ext cx="310896" cy="310896"/>
          </a:xfrm>
          <a:prstGeom prst="chevron">
            <a:avLst/>
          </a:prstGeom>
          <a:solidFill>
            <a:srgbClr val="75E6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10680192" y="2770632"/>
            <a:ext cx="932688" cy="1600200"/>
          </a:xfrm>
          <a:prstGeom prst="roundRect">
            <a:avLst/>
          </a:prstGeom>
          <a:solidFill>
            <a:srgbClr val="0C2119"/>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680192" y="2770632"/>
            <a:ext cx="54864" cy="1600200"/>
          </a:xfrm>
          <a:prstGeom prst="rect">
            <a:avLst/>
          </a:prstGeom>
          <a:solidFill>
            <a:srgbClr val="FF6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863072" y="2916936"/>
            <a:ext cx="640080" cy="292608"/>
          </a:xfrm>
          <a:prstGeom prst="rect">
            <a:avLst/>
          </a:prstGeom>
          <a:noFill/>
        </p:spPr>
        <p:txBody>
          <a:bodyPr wrap="square" lIns="27432" rIns="27432" tIns="27432" bIns="27432" anchor="ctr">
            <a:spAutoFit/>
          </a:bodyPr>
          <a:lstStyle/>
          <a:p>
            <a:pPr algn="l">
              <a:lnSpc>
                <a:spcPct val="105000"/>
              </a:lnSpc>
              <a:spcBef>
                <a:spcPts val="0"/>
              </a:spcBef>
              <a:spcAft>
                <a:spcPts val="0"/>
              </a:spcAft>
            </a:pPr>
            <a:r>
              <a:rPr sz="1100" b="1" i="0">
                <a:solidFill>
                  <a:srgbClr val="F5F8F6"/>
                </a:solidFill>
                <a:latin typeface="Aptos"/>
              </a:rPr>
              <a:t>RAG → Verify → Plan</a:t>
            </a:r>
          </a:p>
        </p:txBody>
      </p:sp>
      <p:sp>
        <p:nvSpPr>
          <p:cNvPr id="48" name="TextBox 47"/>
          <p:cNvSpPr txBox="1"/>
          <p:nvPr/>
        </p:nvSpPr>
        <p:spPr>
          <a:xfrm>
            <a:off x="10863072" y="3255263"/>
            <a:ext cx="640080" cy="996695"/>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950" b="0" i="0">
                <a:solidFill>
                  <a:srgbClr val="A7B9B0"/>
                </a:solidFill>
                <a:latin typeface="Aptos"/>
              </a:rPr>
              <a:t>Grounded treatment
Veto before action</a:t>
            </a:r>
          </a:p>
        </p:txBody>
      </p:sp>
      <p:sp>
        <p:nvSpPr>
          <p:cNvPr id="49" name="Rounded Rectangle 48"/>
          <p:cNvSpPr/>
          <p:nvPr/>
        </p:nvSpPr>
        <p:spPr>
          <a:xfrm>
            <a:off x="585216" y="5705856"/>
            <a:ext cx="11027664" cy="502920"/>
          </a:xfrm>
          <a:prstGeom prst="roundRect">
            <a:avLst/>
          </a:prstGeom>
          <a:solidFill>
            <a:srgbClr val="0E2B20"/>
          </a:solidFill>
          <a:ln w="10160">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22960" y="5843016"/>
            <a:ext cx="1042415" cy="18288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900" b="1" i="0">
                <a:solidFill>
                  <a:srgbClr val="36D399"/>
                </a:solidFill>
                <a:latin typeface="Aptos"/>
              </a:rPr>
              <a:t>Why hybrid?</a:t>
            </a:r>
          </a:p>
        </p:txBody>
      </p:sp>
      <p:sp>
        <p:nvSpPr>
          <p:cNvPr id="51" name="TextBox 50"/>
          <p:cNvSpPr txBox="1"/>
          <p:nvPr/>
        </p:nvSpPr>
        <p:spPr>
          <a:xfrm>
            <a:off x="1956816" y="5779008"/>
            <a:ext cx="9052560" cy="25603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250" b="1" i="0">
                <a:solidFill>
                  <a:srgbClr val="F5F8F6"/>
                </a:solidFill>
                <a:latin typeface="Aptos"/>
              </a:rPr>
              <a:t>Tile-level precision without losing the whole-field context that can expose a confidently wrong local diagnosis.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140F"/>
        </a:solidFill>
        <a:effectLst/>
      </p:bgPr>
    </p:bg>
    <p:spTree>
      <p:nvGrpSpPr>
        <p:cNvPr id="1" name=""/>
        <p:cNvGrpSpPr/>
        <p:nvPr/>
      </p:nvGrpSpPr>
      <p:grpSpPr/>
      <p:sp>
        <p:nvSpPr>
          <p:cNvPr id="2" name="Rectangle 1"/>
          <p:cNvSpPr/>
          <p:nvPr/>
        </p:nvSpPr>
        <p:spPr>
          <a:xfrm>
            <a:off x="10168128"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552176"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36224"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320272"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704319"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149840" y="146304"/>
            <a:ext cx="2039112" cy="9144"/>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149840" y="365760"/>
            <a:ext cx="2039112" cy="9144"/>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149840" y="585216"/>
            <a:ext cx="2039112" cy="9144"/>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iamond 9"/>
          <p:cNvSpPr/>
          <p:nvPr/>
        </p:nvSpPr>
        <p:spPr>
          <a:xfrm>
            <a:off x="502920" y="310896"/>
            <a:ext cx="292608" cy="292608"/>
          </a:xfrm>
          <a:prstGeom prst="diamond">
            <a:avLst/>
          </a:prstGeom>
          <a:solidFill>
            <a:srgbClr val="132F25"/>
          </a:solidFill>
          <a:ln w="13970">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iamond 10"/>
          <p:cNvSpPr/>
          <p:nvPr/>
        </p:nvSpPr>
        <p:spPr>
          <a:xfrm>
            <a:off x="598932" y="406908"/>
            <a:ext cx="100584" cy="100584"/>
          </a:xfrm>
          <a:prstGeom prst="diamond">
            <a:avLst/>
          </a:prstGeom>
          <a:solidFill>
            <a:srgbClr val="75E6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3544" y="301752"/>
            <a:ext cx="1920240" cy="21945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000" b="1" i="0">
                <a:solidFill>
                  <a:srgbClr val="F5F8F6"/>
                </a:solidFill>
                <a:latin typeface="Aptos"/>
              </a:rPr>
              <a:t>AGRISENTINEL</a:t>
            </a:r>
          </a:p>
        </p:txBody>
      </p:sp>
      <p:sp>
        <p:nvSpPr>
          <p:cNvPr id="13" name="TextBox 12"/>
          <p:cNvSpPr txBox="1"/>
          <p:nvPr/>
        </p:nvSpPr>
        <p:spPr>
          <a:xfrm>
            <a:off x="923544" y="466344"/>
            <a:ext cx="2011680" cy="146304"/>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650" b="1" i="0" spc="90">
                <a:solidFill>
                  <a:srgbClr val="36D399"/>
                </a:solidFill>
                <a:latin typeface="Aptos"/>
              </a:rPr>
              <a:t>AUTONOMOUS FIELD HEALTH</a:t>
            </a:r>
          </a:p>
        </p:txBody>
      </p:sp>
      <p:sp>
        <p:nvSpPr>
          <p:cNvPr id="14" name="TextBox 13"/>
          <p:cNvSpPr txBox="1"/>
          <p:nvPr/>
        </p:nvSpPr>
        <p:spPr>
          <a:xfrm>
            <a:off x="11082528" y="283464"/>
            <a:ext cx="502920" cy="228600"/>
          </a:xfrm>
          <a:prstGeom prst="rect">
            <a:avLst/>
          </a:prstGeom>
          <a:noFill/>
        </p:spPr>
        <p:txBody>
          <a:bodyPr wrap="square" lIns="27432" rIns="27432" tIns="27432" bIns="27432" anchor="t">
            <a:spAutoFit/>
          </a:bodyPr>
          <a:lstStyle/>
          <a:p>
            <a:pPr algn="r">
              <a:lnSpc>
                <a:spcPct val="105000"/>
              </a:lnSpc>
              <a:spcBef>
                <a:spcPts val="0"/>
              </a:spcBef>
              <a:spcAft>
                <a:spcPts val="0"/>
              </a:spcAft>
            </a:pPr>
            <a:r>
              <a:rPr sz="900" b="1" i="0">
                <a:solidFill>
                  <a:srgbClr val="6E8278"/>
                </a:solidFill>
                <a:latin typeface="Aptos"/>
              </a:rPr>
              <a:t>05</a:t>
            </a:r>
          </a:p>
        </p:txBody>
      </p:sp>
      <p:sp>
        <p:nvSpPr>
          <p:cNvPr id="15" name="TextBox 14"/>
          <p:cNvSpPr txBox="1"/>
          <p:nvPr/>
        </p:nvSpPr>
        <p:spPr>
          <a:xfrm>
            <a:off x="9189720" y="283464"/>
            <a:ext cx="1783080" cy="228600"/>
          </a:xfrm>
          <a:prstGeom prst="rect">
            <a:avLst/>
          </a:prstGeom>
          <a:noFill/>
        </p:spPr>
        <p:txBody>
          <a:bodyPr wrap="square" lIns="27432" rIns="27432" tIns="27432" bIns="27432" anchor="t">
            <a:spAutoFit/>
          </a:bodyPr>
          <a:lstStyle/>
          <a:p>
            <a:pPr algn="r">
              <a:lnSpc>
                <a:spcPct val="105000"/>
              </a:lnSpc>
              <a:spcBef>
                <a:spcPts val="0"/>
              </a:spcBef>
              <a:spcAft>
                <a:spcPts val="0"/>
              </a:spcAft>
            </a:pPr>
            <a:r>
              <a:rPr sz="800" b="1" i="0" spc="100">
                <a:solidFill>
                  <a:srgbClr val="36D399"/>
                </a:solidFill>
                <a:latin typeface="Aptos"/>
              </a:rPr>
              <a:t>FUSION LOGIC</a:t>
            </a:r>
          </a:p>
        </p:txBody>
      </p:sp>
      <p:sp>
        <p:nvSpPr>
          <p:cNvPr id="16" name="TextBox 15"/>
          <p:cNvSpPr txBox="1"/>
          <p:nvPr/>
        </p:nvSpPr>
        <p:spPr>
          <a:xfrm>
            <a:off x="530352" y="896112"/>
            <a:ext cx="10881360" cy="59436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2800" b="1" i="0">
                <a:solidFill>
                  <a:srgbClr val="F5F8F6"/>
                </a:solidFill>
                <a:latin typeface="Aptos"/>
              </a:rPr>
              <a:t>Disagreement becomes a safety signal</a:t>
            </a:r>
          </a:p>
        </p:txBody>
      </p:sp>
      <p:sp>
        <p:nvSpPr>
          <p:cNvPr id="17" name="TextBox 16"/>
          <p:cNvSpPr txBox="1"/>
          <p:nvPr/>
        </p:nvSpPr>
        <p:spPr>
          <a:xfrm>
            <a:off x="548640" y="1481328"/>
            <a:ext cx="10515600" cy="384048"/>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350" b="0" i="0">
                <a:solidFill>
                  <a:srgbClr val="A7B9B0"/>
                </a:solidFill>
                <a:latin typeface="Aptos"/>
              </a:rPr>
              <a:t>The fusion layer preserves evidence and changes the outcome only when the independent views justify it.</a:t>
            </a:r>
          </a:p>
        </p:txBody>
      </p:sp>
      <p:sp>
        <p:nvSpPr>
          <p:cNvPr id="18" name="TextBox 17"/>
          <p:cNvSpPr txBox="1"/>
          <p:nvPr/>
        </p:nvSpPr>
        <p:spPr>
          <a:xfrm>
            <a:off x="530352" y="6547104"/>
            <a:ext cx="6217920" cy="16459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750" b="1" i="0" spc="70">
                <a:solidFill>
                  <a:srgbClr val="6E8278"/>
                </a:solidFill>
                <a:latin typeface="Aptos"/>
              </a:rPr>
              <a:t>AAROH AI/ML HACKATHON  •  VISHAL + KHUSHI</a:t>
            </a:r>
          </a:p>
        </p:txBody>
      </p:sp>
      <p:sp>
        <p:nvSpPr>
          <p:cNvPr id="19" name="Rounded Rectangle 18"/>
          <p:cNvSpPr/>
          <p:nvPr/>
        </p:nvSpPr>
        <p:spPr>
          <a:xfrm>
            <a:off x="603504" y="2121408"/>
            <a:ext cx="3493008" cy="3172968"/>
          </a:xfrm>
          <a:prstGeom prst="roundRect">
            <a:avLst/>
          </a:prstGeom>
          <a:solidFill>
            <a:srgbClr val="0C2119"/>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3504" y="2121408"/>
            <a:ext cx="3493008" cy="64008"/>
          </a:xfrm>
          <a:prstGeom prst="rect">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2404872"/>
            <a:ext cx="2971800" cy="21945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900" b="1" i="0" spc="85">
                <a:solidFill>
                  <a:srgbClr val="36D399"/>
                </a:solidFill>
                <a:latin typeface="Aptos"/>
              </a:rPr>
              <a:t>AGREE</a:t>
            </a:r>
          </a:p>
        </p:txBody>
      </p:sp>
      <p:sp>
        <p:nvSpPr>
          <p:cNvPr id="22" name="TextBox 21"/>
          <p:cNvSpPr txBox="1"/>
          <p:nvPr/>
        </p:nvSpPr>
        <p:spPr>
          <a:xfrm>
            <a:off x="822960" y="2816352"/>
            <a:ext cx="2999232" cy="512064"/>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700" b="1" i="0">
                <a:solidFill>
                  <a:srgbClr val="F5F8F6"/>
                </a:solidFill>
                <a:latin typeface="Aptos"/>
              </a:rPr>
              <a:t>Same disease / healthy result</a:t>
            </a:r>
          </a:p>
        </p:txBody>
      </p:sp>
      <p:sp>
        <p:nvSpPr>
          <p:cNvPr id="23" name="TextBox 22"/>
          <p:cNvSpPr txBox="1"/>
          <p:nvPr/>
        </p:nvSpPr>
        <p:spPr>
          <a:xfrm>
            <a:off x="822960" y="3529584"/>
            <a:ext cx="2980944" cy="91440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200" b="0" i="0">
                <a:solidFill>
                  <a:srgbClr val="A7B9B0"/>
                </a:solidFill>
                <a:latin typeface="Aptos"/>
              </a:rPr>
              <a:t>Keep the CNN’s spatial heatmap and move forward with higher trust.</a:t>
            </a:r>
          </a:p>
        </p:txBody>
      </p:sp>
      <p:sp>
        <p:nvSpPr>
          <p:cNvPr id="24" name="Rounded Rectangle 23"/>
          <p:cNvSpPr/>
          <p:nvPr/>
        </p:nvSpPr>
        <p:spPr>
          <a:xfrm>
            <a:off x="822960" y="4690872"/>
            <a:ext cx="1572768" cy="310896"/>
          </a:xfrm>
          <a:prstGeom prst="roundRect">
            <a:avLst/>
          </a:prstGeom>
          <a:solidFill>
            <a:srgbClr val="102B21"/>
          </a:solidFill>
          <a:ln w="10160">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4700016"/>
            <a:ext cx="1481328" cy="274320"/>
          </a:xfrm>
          <a:prstGeom prst="rect">
            <a:avLst/>
          </a:prstGeom>
          <a:noFill/>
        </p:spPr>
        <p:txBody>
          <a:bodyPr wrap="square" lIns="27432" rIns="27432" tIns="27432" bIns="27432" anchor="ctr">
            <a:spAutoFit/>
          </a:bodyPr>
          <a:lstStyle/>
          <a:p>
            <a:pPr algn="ctr">
              <a:lnSpc>
                <a:spcPct val="105000"/>
              </a:lnSpc>
              <a:spcBef>
                <a:spcPts val="0"/>
              </a:spcBef>
              <a:spcAft>
                <a:spcPts val="0"/>
              </a:spcAft>
            </a:pPr>
            <a:r>
              <a:rPr sz="750" b="1" i="0">
                <a:solidFill>
                  <a:srgbClr val="36D399"/>
                </a:solidFill>
                <a:latin typeface="Aptos"/>
              </a:rPr>
              <a:t>PASS FORWARD</a:t>
            </a:r>
          </a:p>
        </p:txBody>
      </p:sp>
      <p:sp>
        <p:nvSpPr>
          <p:cNvPr id="26" name="Rounded Rectangle 25"/>
          <p:cNvSpPr/>
          <p:nvPr/>
        </p:nvSpPr>
        <p:spPr>
          <a:xfrm>
            <a:off x="4407408" y="2121408"/>
            <a:ext cx="3493008" cy="3172968"/>
          </a:xfrm>
          <a:prstGeom prst="roundRect">
            <a:avLst/>
          </a:prstGeom>
          <a:solidFill>
            <a:srgbClr val="0C2119"/>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7408" y="2121408"/>
            <a:ext cx="3493008" cy="64008"/>
          </a:xfrm>
          <a:prstGeom prst="rect">
            <a:avLst/>
          </a:prstGeom>
          <a:solidFill>
            <a:srgbClr val="5DD6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26864" y="2404872"/>
            <a:ext cx="2971800" cy="21945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900" b="1" i="0" spc="85">
                <a:solidFill>
                  <a:srgbClr val="5DD6D3"/>
                </a:solidFill>
                <a:latin typeface="Aptos"/>
              </a:rPr>
              <a:t>DISEASE MISMATCH</a:t>
            </a:r>
          </a:p>
        </p:txBody>
      </p:sp>
      <p:sp>
        <p:nvSpPr>
          <p:cNvPr id="29" name="TextBox 28"/>
          <p:cNvSpPr txBox="1"/>
          <p:nvPr/>
        </p:nvSpPr>
        <p:spPr>
          <a:xfrm>
            <a:off x="4626864" y="2816352"/>
            <a:ext cx="2999232" cy="512064"/>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700" b="1" i="0">
                <a:solidFill>
                  <a:srgbClr val="F5F8F6"/>
                </a:solidFill>
                <a:latin typeface="Aptos"/>
              </a:rPr>
              <a:t>Both see disease; names differ</a:t>
            </a:r>
          </a:p>
        </p:txBody>
      </p:sp>
      <p:sp>
        <p:nvSpPr>
          <p:cNvPr id="30" name="TextBox 29"/>
          <p:cNvSpPr txBox="1"/>
          <p:nvPr/>
        </p:nvSpPr>
        <p:spPr>
          <a:xfrm>
            <a:off x="4626864" y="3529584"/>
            <a:ext cx="2980944" cy="91440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200" b="0" i="0">
                <a:solidFill>
                  <a:srgbClr val="A7B9B0"/>
                </a:solidFill>
                <a:latin typeface="Aptos"/>
              </a:rPr>
              <a:t>When vision is confident and crop-scoped, relabel infected tiles while preserving where the CNN found them.</a:t>
            </a:r>
          </a:p>
        </p:txBody>
      </p:sp>
      <p:sp>
        <p:nvSpPr>
          <p:cNvPr id="31" name="Rounded Rectangle 30"/>
          <p:cNvSpPr/>
          <p:nvPr/>
        </p:nvSpPr>
        <p:spPr>
          <a:xfrm>
            <a:off x="4626864" y="4690872"/>
            <a:ext cx="1572768" cy="310896"/>
          </a:xfrm>
          <a:prstGeom prst="roundRect">
            <a:avLst/>
          </a:prstGeom>
          <a:solidFill>
            <a:srgbClr val="102B21"/>
          </a:solidFill>
          <a:ln w="10160">
            <a:solidFill>
              <a:srgbClr val="5DD6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72584" y="4700016"/>
            <a:ext cx="1481328" cy="274320"/>
          </a:xfrm>
          <a:prstGeom prst="rect">
            <a:avLst/>
          </a:prstGeom>
          <a:noFill/>
        </p:spPr>
        <p:txBody>
          <a:bodyPr wrap="square" lIns="27432" rIns="27432" tIns="27432" bIns="27432" anchor="ctr">
            <a:spAutoFit/>
          </a:bodyPr>
          <a:lstStyle/>
          <a:p>
            <a:pPr algn="ctr">
              <a:lnSpc>
                <a:spcPct val="105000"/>
              </a:lnSpc>
              <a:spcBef>
                <a:spcPts val="0"/>
              </a:spcBef>
              <a:spcAft>
                <a:spcPts val="0"/>
              </a:spcAft>
            </a:pPr>
            <a:r>
              <a:rPr sz="750" b="1" i="0">
                <a:solidFill>
                  <a:srgbClr val="5DD6D3"/>
                </a:solidFill>
                <a:latin typeface="Aptos"/>
              </a:rPr>
              <a:t>FUSE THE NAME</a:t>
            </a:r>
          </a:p>
        </p:txBody>
      </p:sp>
      <p:sp>
        <p:nvSpPr>
          <p:cNvPr id="33" name="Rounded Rectangle 32"/>
          <p:cNvSpPr/>
          <p:nvPr/>
        </p:nvSpPr>
        <p:spPr>
          <a:xfrm>
            <a:off x="8211312" y="2121408"/>
            <a:ext cx="3493008" cy="3172968"/>
          </a:xfrm>
          <a:prstGeom prst="roundRect">
            <a:avLst/>
          </a:prstGeom>
          <a:solidFill>
            <a:srgbClr val="0C2119"/>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211312" y="2121408"/>
            <a:ext cx="3493008" cy="64008"/>
          </a:xfrm>
          <a:prstGeom prst="rect">
            <a:avLst/>
          </a:prstGeom>
          <a:solidFill>
            <a:srgbClr val="FF6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30768" y="2404872"/>
            <a:ext cx="2971800" cy="21945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900" b="1" i="0" spc="85">
                <a:solidFill>
                  <a:srgbClr val="FF6B5E"/>
                </a:solidFill>
                <a:latin typeface="Aptos"/>
              </a:rPr>
              <a:t>HEALTHY CONFLICT</a:t>
            </a:r>
          </a:p>
        </p:txBody>
      </p:sp>
      <p:sp>
        <p:nvSpPr>
          <p:cNvPr id="36" name="TextBox 35"/>
          <p:cNvSpPr txBox="1"/>
          <p:nvPr/>
        </p:nvSpPr>
        <p:spPr>
          <a:xfrm>
            <a:off x="8430768" y="2816352"/>
            <a:ext cx="2999232" cy="512064"/>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700" b="1" i="0">
                <a:solidFill>
                  <a:srgbClr val="F5F8F6"/>
                </a:solidFill>
                <a:latin typeface="Aptos"/>
              </a:rPr>
              <a:t>Vision sees clean; CNN sees ≥20% affected</a:t>
            </a:r>
          </a:p>
        </p:txBody>
      </p:sp>
      <p:sp>
        <p:nvSpPr>
          <p:cNvPr id="37" name="TextBox 36"/>
          <p:cNvSpPr txBox="1"/>
          <p:nvPr/>
        </p:nvSpPr>
        <p:spPr>
          <a:xfrm>
            <a:off x="8430768" y="3529584"/>
            <a:ext cx="2980944" cy="91440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200" b="0" i="0">
                <a:solidFill>
                  <a:srgbClr val="A7B9B0"/>
                </a:solidFill>
                <a:latin typeface="Aptos"/>
              </a:rPr>
              <a:t>Keep the heatmap as evidence, mark the diagnosis contested, and withhold treatment advice.</a:t>
            </a:r>
          </a:p>
        </p:txBody>
      </p:sp>
      <p:sp>
        <p:nvSpPr>
          <p:cNvPr id="38" name="Rounded Rectangle 37"/>
          <p:cNvSpPr/>
          <p:nvPr/>
        </p:nvSpPr>
        <p:spPr>
          <a:xfrm>
            <a:off x="8430768" y="4690872"/>
            <a:ext cx="1572768" cy="310896"/>
          </a:xfrm>
          <a:prstGeom prst="roundRect">
            <a:avLst/>
          </a:prstGeom>
          <a:solidFill>
            <a:srgbClr val="102B21"/>
          </a:solidFill>
          <a:ln w="10160">
            <a:solidFill>
              <a:srgbClr val="FF6B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76488" y="4700016"/>
            <a:ext cx="1481328" cy="274320"/>
          </a:xfrm>
          <a:prstGeom prst="rect">
            <a:avLst/>
          </a:prstGeom>
          <a:noFill/>
        </p:spPr>
        <p:txBody>
          <a:bodyPr wrap="square" lIns="27432" rIns="27432" tIns="27432" bIns="27432" anchor="ctr">
            <a:spAutoFit/>
          </a:bodyPr>
          <a:lstStyle/>
          <a:p>
            <a:pPr algn="ctr">
              <a:lnSpc>
                <a:spcPct val="105000"/>
              </a:lnSpc>
              <a:spcBef>
                <a:spcPts val="0"/>
              </a:spcBef>
              <a:spcAft>
                <a:spcPts val="0"/>
              </a:spcAft>
            </a:pPr>
            <a:r>
              <a:rPr sz="750" b="1" i="0">
                <a:solidFill>
                  <a:srgbClr val="FF6B5E"/>
                </a:solidFill>
                <a:latin typeface="Aptos"/>
              </a:rPr>
              <a:t>REFUSE TO SPRAY</a:t>
            </a:r>
          </a:p>
        </p:txBody>
      </p:sp>
      <p:sp>
        <p:nvSpPr>
          <p:cNvPr id="40" name="Rounded Rectangle 39"/>
          <p:cNvSpPr/>
          <p:nvPr/>
        </p:nvSpPr>
        <p:spPr>
          <a:xfrm>
            <a:off x="603504" y="5596128"/>
            <a:ext cx="10991088" cy="594360"/>
          </a:xfrm>
          <a:prstGeom prst="roundRect">
            <a:avLst/>
          </a:prstGeom>
          <a:solidFill>
            <a:srgbClr val="102B21"/>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2104" y="5769864"/>
            <a:ext cx="1389888" cy="21031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000" b="1" i="0">
                <a:solidFill>
                  <a:srgbClr val="F4C84A"/>
                </a:solidFill>
                <a:latin typeface="Aptos"/>
              </a:rPr>
              <a:t>Graceful fallback</a:t>
            </a:r>
          </a:p>
        </p:txBody>
      </p:sp>
      <p:sp>
        <p:nvSpPr>
          <p:cNvPr id="42" name="TextBox 41"/>
          <p:cNvSpPr txBox="1"/>
          <p:nvPr/>
        </p:nvSpPr>
        <p:spPr>
          <a:xfrm>
            <a:off x="2331720" y="5705856"/>
            <a:ext cx="8759952" cy="30175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250" b="1" i="0">
                <a:solidFill>
                  <a:srgbClr val="F5F8F6"/>
                </a:solidFill>
                <a:latin typeface="Aptos"/>
              </a:rPr>
              <a:t>If the vision API is unavailable, the event is logged and the local offline pipeline continues — no crash, no hidden state.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140F"/>
        </a:solidFill>
        <a:effectLst/>
      </p:bgPr>
    </p:bg>
    <p:spTree>
      <p:nvGrpSpPr>
        <p:cNvPr id="1" name=""/>
        <p:cNvGrpSpPr/>
        <p:nvPr/>
      </p:nvGrpSpPr>
      <p:grpSpPr/>
      <p:sp>
        <p:nvSpPr>
          <p:cNvPr id="2" name="Rectangle 1"/>
          <p:cNvSpPr/>
          <p:nvPr/>
        </p:nvSpPr>
        <p:spPr>
          <a:xfrm>
            <a:off x="10168128"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552176"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36224"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320272"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704319"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149840" y="146304"/>
            <a:ext cx="2039112" cy="9144"/>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149840" y="365760"/>
            <a:ext cx="2039112" cy="9144"/>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149840" y="585216"/>
            <a:ext cx="2039112" cy="9144"/>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iamond 9"/>
          <p:cNvSpPr/>
          <p:nvPr/>
        </p:nvSpPr>
        <p:spPr>
          <a:xfrm>
            <a:off x="502920" y="310896"/>
            <a:ext cx="292608" cy="292608"/>
          </a:xfrm>
          <a:prstGeom prst="diamond">
            <a:avLst/>
          </a:prstGeom>
          <a:solidFill>
            <a:srgbClr val="132F25"/>
          </a:solidFill>
          <a:ln w="13970">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iamond 10"/>
          <p:cNvSpPr/>
          <p:nvPr/>
        </p:nvSpPr>
        <p:spPr>
          <a:xfrm>
            <a:off x="598932" y="406908"/>
            <a:ext cx="100584" cy="100584"/>
          </a:xfrm>
          <a:prstGeom prst="diamond">
            <a:avLst/>
          </a:prstGeom>
          <a:solidFill>
            <a:srgbClr val="75E6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3544" y="301752"/>
            <a:ext cx="1920240" cy="21945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000" b="1" i="0">
                <a:solidFill>
                  <a:srgbClr val="F5F8F6"/>
                </a:solidFill>
                <a:latin typeface="Aptos"/>
              </a:rPr>
              <a:t>AGRISENTINEL</a:t>
            </a:r>
          </a:p>
        </p:txBody>
      </p:sp>
      <p:sp>
        <p:nvSpPr>
          <p:cNvPr id="13" name="TextBox 12"/>
          <p:cNvSpPr txBox="1"/>
          <p:nvPr/>
        </p:nvSpPr>
        <p:spPr>
          <a:xfrm>
            <a:off x="923544" y="466344"/>
            <a:ext cx="2011680" cy="146304"/>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650" b="1" i="0" spc="90">
                <a:solidFill>
                  <a:srgbClr val="36D399"/>
                </a:solidFill>
                <a:latin typeface="Aptos"/>
              </a:rPr>
              <a:t>AUTONOMOUS FIELD HEALTH</a:t>
            </a:r>
          </a:p>
        </p:txBody>
      </p:sp>
      <p:sp>
        <p:nvSpPr>
          <p:cNvPr id="14" name="TextBox 13"/>
          <p:cNvSpPr txBox="1"/>
          <p:nvPr/>
        </p:nvSpPr>
        <p:spPr>
          <a:xfrm>
            <a:off x="11082528" y="283464"/>
            <a:ext cx="502920" cy="228600"/>
          </a:xfrm>
          <a:prstGeom prst="rect">
            <a:avLst/>
          </a:prstGeom>
          <a:noFill/>
        </p:spPr>
        <p:txBody>
          <a:bodyPr wrap="square" lIns="27432" rIns="27432" tIns="27432" bIns="27432" anchor="t">
            <a:spAutoFit/>
          </a:bodyPr>
          <a:lstStyle/>
          <a:p>
            <a:pPr algn="r">
              <a:lnSpc>
                <a:spcPct val="105000"/>
              </a:lnSpc>
              <a:spcBef>
                <a:spcPts val="0"/>
              </a:spcBef>
              <a:spcAft>
                <a:spcPts val="0"/>
              </a:spcAft>
            </a:pPr>
            <a:r>
              <a:rPr sz="900" b="1" i="0">
                <a:solidFill>
                  <a:srgbClr val="6E8278"/>
                </a:solidFill>
                <a:latin typeface="Aptos"/>
              </a:rPr>
              <a:t>06</a:t>
            </a:r>
          </a:p>
        </p:txBody>
      </p:sp>
      <p:sp>
        <p:nvSpPr>
          <p:cNvPr id="15" name="TextBox 14"/>
          <p:cNvSpPr txBox="1"/>
          <p:nvPr/>
        </p:nvSpPr>
        <p:spPr>
          <a:xfrm>
            <a:off x="9189720" y="283464"/>
            <a:ext cx="1783080" cy="228600"/>
          </a:xfrm>
          <a:prstGeom prst="rect">
            <a:avLst/>
          </a:prstGeom>
          <a:noFill/>
        </p:spPr>
        <p:txBody>
          <a:bodyPr wrap="square" lIns="27432" rIns="27432" tIns="27432" bIns="27432" anchor="t">
            <a:spAutoFit/>
          </a:bodyPr>
          <a:lstStyle/>
          <a:p>
            <a:pPr algn="r">
              <a:lnSpc>
                <a:spcPct val="105000"/>
              </a:lnSpc>
              <a:spcBef>
                <a:spcPts val="0"/>
              </a:spcBef>
              <a:spcAft>
                <a:spcPts val="0"/>
              </a:spcAft>
            </a:pPr>
            <a:r>
              <a:rPr sz="800" b="1" i="0" spc="100">
                <a:solidFill>
                  <a:srgbClr val="36D399"/>
                </a:solidFill>
                <a:latin typeface="Aptos"/>
              </a:rPr>
              <a:t>ARCHITECTURE</a:t>
            </a:r>
          </a:p>
        </p:txBody>
      </p:sp>
      <p:sp>
        <p:nvSpPr>
          <p:cNvPr id="16" name="TextBox 15"/>
          <p:cNvSpPr txBox="1"/>
          <p:nvPr/>
        </p:nvSpPr>
        <p:spPr>
          <a:xfrm>
            <a:off x="530352" y="896112"/>
            <a:ext cx="10881360" cy="59436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2800" b="1" i="0">
                <a:solidFill>
                  <a:srgbClr val="F5F8F6"/>
                </a:solidFill>
                <a:latin typeface="Aptos"/>
              </a:rPr>
              <a:t>Autonomy is visible — and auditable</a:t>
            </a:r>
          </a:p>
        </p:txBody>
      </p:sp>
      <p:sp>
        <p:nvSpPr>
          <p:cNvPr id="17" name="TextBox 16"/>
          <p:cNvSpPr txBox="1"/>
          <p:nvPr/>
        </p:nvSpPr>
        <p:spPr>
          <a:xfrm>
            <a:off x="548640" y="1481328"/>
            <a:ext cx="10515600" cy="384048"/>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350" b="0" i="0">
                <a:solidFill>
                  <a:srgbClr val="A7B9B0"/>
                </a:solidFill>
                <a:latin typeface="Aptos"/>
              </a:rPr>
              <a:t>Specialised agents share one event-sourced RunState; the Orchestrator alone controls sequence and branching.</a:t>
            </a:r>
          </a:p>
        </p:txBody>
      </p:sp>
      <p:sp>
        <p:nvSpPr>
          <p:cNvPr id="18" name="TextBox 17"/>
          <p:cNvSpPr txBox="1"/>
          <p:nvPr/>
        </p:nvSpPr>
        <p:spPr>
          <a:xfrm>
            <a:off x="530352" y="6547104"/>
            <a:ext cx="6217920" cy="16459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750" b="1" i="0" spc="70">
                <a:solidFill>
                  <a:srgbClr val="6E8278"/>
                </a:solidFill>
                <a:latin typeface="Aptos"/>
              </a:rPr>
              <a:t>AAROH AI/ML HACKATHON  •  VISHAL + KHUSHI</a:t>
            </a:r>
          </a:p>
        </p:txBody>
      </p:sp>
      <p:sp>
        <p:nvSpPr>
          <p:cNvPr id="19" name="Rounded Rectangle 18"/>
          <p:cNvSpPr/>
          <p:nvPr/>
        </p:nvSpPr>
        <p:spPr>
          <a:xfrm>
            <a:off x="585216" y="2084831"/>
            <a:ext cx="3767328" cy="3502152"/>
          </a:xfrm>
          <a:prstGeom prst="roundRect">
            <a:avLst/>
          </a:prstGeom>
          <a:solidFill>
            <a:srgbClr val="0C2119"/>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6384" y="2286000"/>
            <a:ext cx="3364992" cy="21945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900" b="1" i="0" spc="120">
                <a:solidFill>
                  <a:srgbClr val="36D399"/>
                </a:solidFill>
                <a:latin typeface="Aptos"/>
              </a:rPr>
              <a:t>PERCEPTION</a:t>
            </a:r>
          </a:p>
        </p:txBody>
      </p:sp>
      <p:sp>
        <p:nvSpPr>
          <p:cNvPr id="21" name="Oval 20"/>
          <p:cNvSpPr/>
          <p:nvPr/>
        </p:nvSpPr>
        <p:spPr>
          <a:xfrm>
            <a:off x="786384" y="2752343"/>
            <a:ext cx="219456" cy="219456"/>
          </a:xfrm>
          <a:prstGeom prst="ellipse">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2747771"/>
            <a:ext cx="219456" cy="219456"/>
          </a:xfrm>
          <a:prstGeom prst="rect">
            <a:avLst/>
          </a:prstGeom>
          <a:noFill/>
        </p:spPr>
        <p:txBody>
          <a:bodyPr wrap="square" lIns="27432" rIns="27432" tIns="27432" bIns="27432" anchor="ctr">
            <a:spAutoFit/>
          </a:bodyPr>
          <a:lstStyle/>
          <a:p>
            <a:pPr algn="ctr">
              <a:lnSpc>
                <a:spcPct val="105000"/>
              </a:lnSpc>
              <a:spcBef>
                <a:spcPts val="0"/>
              </a:spcBef>
              <a:spcAft>
                <a:spcPts val="0"/>
              </a:spcAft>
            </a:pPr>
            <a:r>
              <a:rPr sz="700" b="1" i="0">
                <a:solidFill>
                  <a:srgbClr val="07140F"/>
                </a:solidFill>
                <a:latin typeface="Aptos"/>
              </a:rPr>
              <a:t>1</a:t>
            </a:r>
          </a:p>
        </p:txBody>
      </p:sp>
      <p:sp>
        <p:nvSpPr>
          <p:cNvPr id="23" name="TextBox 22"/>
          <p:cNvSpPr txBox="1"/>
          <p:nvPr/>
        </p:nvSpPr>
        <p:spPr>
          <a:xfrm>
            <a:off x="1115568" y="2724911"/>
            <a:ext cx="1619951" cy="246888"/>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150" b="1" i="0">
                <a:solidFill>
                  <a:srgbClr val="F5F8F6"/>
                </a:solidFill>
                <a:latin typeface="Aptos"/>
              </a:rPr>
              <a:t>Scout</a:t>
            </a:r>
          </a:p>
        </p:txBody>
      </p:sp>
      <p:sp>
        <p:nvSpPr>
          <p:cNvPr id="24" name="TextBox 23"/>
          <p:cNvSpPr txBox="1"/>
          <p:nvPr/>
        </p:nvSpPr>
        <p:spPr>
          <a:xfrm>
            <a:off x="2544226" y="2734055"/>
            <a:ext cx="1506931" cy="219456"/>
          </a:xfrm>
          <a:prstGeom prst="rect">
            <a:avLst/>
          </a:prstGeom>
          <a:noFill/>
        </p:spPr>
        <p:txBody>
          <a:bodyPr wrap="square" lIns="27432" rIns="27432" tIns="27432" bIns="27432" anchor="t">
            <a:spAutoFit/>
          </a:bodyPr>
          <a:lstStyle/>
          <a:p>
            <a:pPr algn="r">
              <a:lnSpc>
                <a:spcPct val="105000"/>
              </a:lnSpc>
              <a:spcBef>
                <a:spcPts val="0"/>
              </a:spcBef>
              <a:spcAft>
                <a:spcPts val="0"/>
              </a:spcAft>
            </a:pPr>
            <a:r>
              <a:rPr sz="880" b="0" i="0">
                <a:solidFill>
                  <a:srgbClr val="A7B9B0"/>
                </a:solidFill>
                <a:latin typeface="Aptos"/>
              </a:rPr>
              <a:t>tile + filter</a:t>
            </a:r>
          </a:p>
        </p:txBody>
      </p:sp>
      <p:sp>
        <p:nvSpPr>
          <p:cNvPr id="25" name="Oval 24"/>
          <p:cNvSpPr/>
          <p:nvPr/>
        </p:nvSpPr>
        <p:spPr>
          <a:xfrm>
            <a:off x="786384" y="3328415"/>
            <a:ext cx="219456" cy="219456"/>
          </a:xfrm>
          <a:prstGeom prst="ellipse">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6384" y="3323843"/>
            <a:ext cx="219456" cy="219456"/>
          </a:xfrm>
          <a:prstGeom prst="rect">
            <a:avLst/>
          </a:prstGeom>
          <a:noFill/>
        </p:spPr>
        <p:txBody>
          <a:bodyPr wrap="square" lIns="27432" rIns="27432" tIns="27432" bIns="27432" anchor="ctr">
            <a:spAutoFit/>
          </a:bodyPr>
          <a:lstStyle/>
          <a:p>
            <a:pPr algn="ctr">
              <a:lnSpc>
                <a:spcPct val="105000"/>
              </a:lnSpc>
              <a:spcBef>
                <a:spcPts val="0"/>
              </a:spcBef>
              <a:spcAft>
                <a:spcPts val="0"/>
              </a:spcAft>
            </a:pPr>
            <a:r>
              <a:rPr sz="700" b="1" i="0">
                <a:solidFill>
                  <a:srgbClr val="07140F"/>
                </a:solidFill>
                <a:latin typeface="Aptos"/>
              </a:rPr>
              <a:t>2</a:t>
            </a:r>
          </a:p>
        </p:txBody>
      </p:sp>
      <p:sp>
        <p:nvSpPr>
          <p:cNvPr id="27" name="TextBox 26"/>
          <p:cNvSpPr txBox="1"/>
          <p:nvPr/>
        </p:nvSpPr>
        <p:spPr>
          <a:xfrm>
            <a:off x="1115568" y="3300983"/>
            <a:ext cx="1619951" cy="246888"/>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150" b="1" i="0">
                <a:solidFill>
                  <a:srgbClr val="F5F8F6"/>
                </a:solidFill>
                <a:latin typeface="Aptos"/>
              </a:rPr>
              <a:t>Observer</a:t>
            </a:r>
          </a:p>
        </p:txBody>
      </p:sp>
      <p:sp>
        <p:nvSpPr>
          <p:cNvPr id="28" name="TextBox 27"/>
          <p:cNvSpPr txBox="1"/>
          <p:nvPr/>
        </p:nvSpPr>
        <p:spPr>
          <a:xfrm>
            <a:off x="2544226" y="3310127"/>
            <a:ext cx="1506931" cy="219456"/>
          </a:xfrm>
          <a:prstGeom prst="rect">
            <a:avLst/>
          </a:prstGeom>
          <a:noFill/>
        </p:spPr>
        <p:txBody>
          <a:bodyPr wrap="square" lIns="27432" rIns="27432" tIns="27432" bIns="27432" anchor="t">
            <a:spAutoFit/>
          </a:bodyPr>
          <a:lstStyle/>
          <a:p>
            <a:pPr algn="r">
              <a:lnSpc>
                <a:spcPct val="105000"/>
              </a:lnSpc>
              <a:spcBef>
                <a:spcPts val="0"/>
              </a:spcBef>
              <a:spcAft>
                <a:spcPts val="0"/>
              </a:spcAft>
            </a:pPr>
            <a:r>
              <a:rPr sz="880" b="0" i="0">
                <a:solidFill>
                  <a:srgbClr val="A7B9B0"/>
                </a:solidFill>
                <a:latin typeface="Aptos"/>
              </a:rPr>
              <a:t>whole-image vision</a:t>
            </a:r>
          </a:p>
        </p:txBody>
      </p:sp>
      <p:sp>
        <p:nvSpPr>
          <p:cNvPr id="29" name="Oval 28"/>
          <p:cNvSpPr/>
          <p:nvPr/>
        </p:nvSpPr>
        <p:spPr>
          <a:xfrm>
            <a:off x="786384" y="3904487"/>
            <a:ext cx="219456" cy="219456"/>
          </a:xfrm>
          <a:prstGeom prst="ellipse">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3899915"/>
            <a:ext cx="219456" cy="219456"/>
          </a:xfrm>
          <a:prstGeom prst="rect">
            <a:avLst/>
          </a:prstGeom>
          <a:noFill/>
        </p:spPr>
        <p:txBody>
          <a:bodyPr wrap="square" lIns="27432" rIns="27432" tIns="27432" bIns="27432" anchor="ctr">
            <a:spAutoFit/>
          </a:bodyPr>
          <a:lstStyle/>
          <a:p>
            <a:pPr algn="ctr">
              <a:lnSpc>
                <a:spcPct val="105000"/>
              </a:lnSpc>
              <a:spcBef>
                <a:spcPts val="0"/>
              </a:spcBef>
              <a:spcAft>
                <a:spcPts val="0"/>
              </a:spcAft>
            </a:pPr>
            <a:r>
              <a:rPr sz="700" b="1" i="0">
                <a:solidFill>
                  <a:srgbClr val="07140F"/>
                </a:solidFill>
                <a:latin typeface="Aptos"/>
              </a:rPr>
              <a:t>3</a:t>
            </a:r>
          </a:p>
        </p:txBody>
      </p:sp>
      <p:sp>
        <p:nvSpPr>
          <p:cNvPr id="31" name="TextBox 30"/>
          <p:cNvSpPr txBox="1"/>
          <p:nvPr/>
        </p:nvSpPr>
        <p:spPr>
          <a:xfrm>
            <a:off x="1115568" y="3877055"/>
            <a:ext cx="1619951" cy="246888"/>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150" b="1" i="0">
                <a:solidFill>
                  <a:srgbClr val="F5F8F6"/>
                </a:solidFill>
                <a:latin typeface="Aptos"/>
              </a:rPr>
              <a:t>Diagnostician</a:t>
            </a:r>
          </a:p>
        </p:txBody>
      </p:sp>
      <p:sp>
        <p:nvSpPr>
          <p:cNvPr id="32" name="TextBox 31"/>
          <p:cNvSpPr txBox="1"/>
          <p:nvPr/>
        </p:nvSpPr>
        <p:spPr>
          <a:xfrm>
            <a:off x="2544226" y="3886199"/>
            <a:ext cx="1506931" cy="219456"/>
          </a:xfrm>
          <a:prstGeom prst="rect">
            <a:avLst/>
          </a:prstGeom>
          <a:noFill/>
        </p:spPr>
        <p:txBody>
          <a:bodyPr wrap="square" lIns="27432" rIns="27432" tIns="27432" bIns="27432" anchor="t">
            <a:spAutoFit/>
          </a:bodyPr>
          <a:lstStyle/>
          <a:p>
            <a:pPr algn="r">
              <a:lnSpc>
                <a:spcPct val="105000"/>
              </a:lnSpc>
              <a:spcBef>
                <a:spcPts val="0"/>
              </a:spcBef>
              <a:spcAft>
                <a:spcPts val="0"/>
              </a:spcAft>
            </a:pPr>
            <a:r>
              <a:rPr sz="880" b="0" i="0">
                <a:solidFill>
                  <a:srgbClr val="A7B9B0"/>
                </a:solidFill>
                <a:latin typeface="Aptos"/>
              </a:rPr>
              <a:t>EfficientNet-B0</a:t>
            </a:r>
          </a:p>
        </p:txBody>
      </p:sp>
      <p:sp>
        <p:nvSpPr>
          <p:cNvPr id="33" name="Oval 32"/>
          <p:cNvSpPr/>
          <p:nvPr/>
        </p:nvSpPr>
        <p:spPr>
          <a:xfrm>
            <a:off x="786384" y="4480559"/>
            <a:ext cx="219456" cy="219456"/>
          </a:xfrm>
          <a:prstGeom prst="ellipse">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 y="4475988"/>
            <a:ext cx="219456" cy="219456"/>
          </a:xfrm>
          <a:prstGeom prst="rect">
            <a:avLst/>
          </a:prstGeom>
          <a:noFill/>
        </p:spPr>
        <p:txBody>
          <a:bodyPr wrap="square" lIns="27432" rIns="27432" tIns="27432" bIns="27432" anchor="ctr">
            <a:spAutoFit/>
          </a:bodyPr>
          <a:lstStyle/>
          <a:p>
            <a:pPr algn="ctr">
              <a:lnSpc>
                <a:spcPct val="105000"/>
              </a:lnSpc>
              <a:spcBef>
                <a:spcPts val="0"/>
              </a:spcBef>
              <a:spcAft>
                <a:spcPts val="0"/>
              </a:spcAft>
            </a:pPr>
            <a:r>
              <a:rPr sz="700" b="1" i="0">
                <a:solidFill>
                  <a:srgbClr val="07140F"/>
                </a:solidFill>
                <a:latin typeface="Aptos"/>
              </a:rPr>
              <a:t>4</a:t>
            </a:r>
          </a:p>
        </p:txBody>
      </p:sp>
      <p:sp>
        <p:nvSpPr>
          <p:cNvPr id="35" name="TextBox 34"/>
          <p:cNvSpPr txBox="1"/>
          <p:nvPr/>
        </p:nvSpPr>
        <p:spPr>
          <a:xfrm>
            <a:off x="1115568" y="4453127"/>
            <a:ext cx="1619951" cy="246888"/>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150" b="1" i="0">
                <a:solidFill>
                  <a:srgbClr val="F5F8F6"/>
                </a:solidFill>
                <a:latin typeface="Aptos"/>
              </a:rPr>
              <a:t>Second Opinion</a:t>
            </a:r>
          </a:p>
        </p:txBody>
      </p:sp>
      <p:sp>
        <p:nvSpPr>
          <p:cNvPr id="36" name="TextBox 35"/>
          <p:cNvSpPr txBox="1"/>
          <p:nvPr/>
        </p:nvSpPr>
        <p:spPr>
          <a:xfrm>
            <a:off x="2544226" y="4462271"/>
            <a:ext cx="1506931" cy="219456"/>
          </a:xfrm>
          <a:prstGeom prst="rect">
            <a:avLst/>
          </a:prstGeom>
          <a:noFill/>
        </p:spPr>
        <p:txBody>
          <a:bodyPr wrap="square" lIns="27432" rIns="27432" tIns="27432" bIns="27432" anchor="t">
            <a:spAutoFit/>
          </a:bodyPr>
          <a:lstStyle/>
          <a:p>
            <a:pPr algn="r">
              <a:lnSpc>
                <a:spcPct val="105000"/>
              </a:lnSpc>
              <a:spcBef>
                <a:spcPts val="0"/>
              </a:spcBef>
              <a:spcAft>
                <a:spcPts val="0"/>
              </a:spcAft>
            </a:pPr>
            <a:r>
              <a:rPr sz="880" b="0" i="0">
                <a:solidFill>
                  <a:srgbClr val="A7B9B0"/>
                </a:solidFill>
                <a:latin typeface="Aptos"/>
              </a:rPr>
              <a:t>TTA under 0.75</a:t>
            </a:r>
          </a:p>
        </p:txBody>
      </p:sp>
      <p:sp>
        <p:nvSpPr>
          <p:cNvPr id="37" name="Oval 36"/>
          <p:cNvSpPr/>
          <p:nvPr/>
        </p:nvSpPr>
        <p:spPr>
          <a:xfrm>
            <a:off x="786384" y="5056632"/>
            <a:ext cx="219456" cy="219456"/>
          </a:xfrm>
          <a:prstGeom prst="ellipse">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6384" y="5052060"/>
            <a:ext cx="219456" cy="219456"/>
          </a:xfrm>
          <a:prstGeom prst="rect">
            <a:avLst/>
          </a:prstGeom>
          <a:noFill/>
        </p:spPr>
        <p:txBody>
          <a:bodyPr wrap="square" lIns="27432" rIns="27432" tIns="27432" bIns="27432" anchor="ctr">
            <a:spAutoFit/>
          </a:bodyPr>
          <a:lstStyle/>
          <a:p>
            <a:pPr algn="ctr">
              <a:lnSpc>
                <a:spcPct val="105000"/>
              </a:lnSpc>
              <a:spcBef>
                <a:spcPts val="0"/>
              </a:spcBef>
              <a:spcAft>
                <a:spcPts val="0"/>
              </a:spcAft>
            </a:pPr>
            <a:r>
              <a:rPr sz="700" b="1" i="0">
                <a:solidFill>
                  <a:srgbClr val="07140F"/>
                </a:solidFill>
                <a:latin typeface="Aptos"/>
              </a:rPr>
              <a:t>5</a:t>
            </a:r>
          </a:p>
        </p:txBody>
      </p:sp>
      <p:sp>
        <p:nvSpPr>
          <p:cNvPr id="39" name="TextBox 38"/>
          <p:cNvSpPr txBox="1"/>
          <p:nvPr/>
        </p:nvSpPr>
        <p:spPr>
          <a:xfrm>
            <a:off x="1115568" y="5029200"/>
            <a:ext cx="1619951" cy="246888"/>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150" b="1" i="0">
                <a:solidFill>
                  <a:srgbClr val="F5F8F6"/>
                </a:solidFill>
                <a:latin typeface="Aptos"/>
              </a:rPr>
              <a:t>Consensus</a:t>
            </a:r>
          </a:p>
        </p:txBody>
      </p:sp>
      <p:sp>
        <p:nvSpPr>
          <p:cNvPr id="40" name="TextBox 39"/>
          <p:cNvSpPr txBox="1"/>
          <p:nvPr/>
        </p:nvSpPr>
        <p:spPr>
          <a:xfrm>
            <a:off x="2544226" y="5038344"/>
            <a:ext cx="1506931" cy="219456"/>
          </a:xfrm>
          <a:prstGeom prst="rect">
            <a:avLst/>
          </a:prstGeom>
          <a:noFill/>
        </p:spPr>
        <p:txBody>
          <a:bodyPr wrap="square" lIns="27432" rIns="27432" tIns="27432" bIns="27432" anchor="t">
            <a:spAutoFit/>
          </a:bodyPr>
          <a:lstStyle/>
          <a:p>
            <a:pPr algn="r">
              <a:lnSpc>
                <a:spcPct val="105000"/>
              </a:lnSpc>
              <a:spcBef>
                <a:spcPts val="0"/>
              </a:spcBef>
              <a:spcAft>
                <a:spcPts val="0"/>
              </a:spcAft>
            </a:pPr>
            <a:r>
              <a:rPr sz="880" b="0" i="0">
                <a:solidFill>
                  <a:srgbClr val="A7B9B0"/>
                </a:solidFill>
                <a:latin typeface="Aptos"/>
              </a:rPr>
              <a:t>decision fusion</a:t>
            </a:r>
          </a:p>
        </p:txBody>
      </p:sp>
      <p:sp>
        <p:nvSpPr>
          <p:cNvPr id="41" name="Rounded Rectangle 40"/>
          <p:cNvSpPr/>
          <p:nvPr/>
        </p:nvSpPr>
        <p:spPr>
          <a:xfrm>
            <a:off x="4489704" y="2084831"/>
            <a:ext cx="2944368" cy="3502152"/>
          </a:xfrm>
          <a:prstGeom prst="roundRect">
            <a:avLst/>
          </a:prstGeom>
          <a:solidFill>
            <a:srgbClr val="0C2119"/>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690872" y="2286000"/>
            <a:ext cx="2542032" cy="21945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900" b="1" i="0" spc="120">
                <a:solidFill>
                  <a:srgbClr val="5DD6D3"/>
                </a:solidFill>
                <a:latin typeface="Aptos"/>
              </a:rPr>
              <a:t>FIELD INTELLIGENCE</a:t>
            </a:r>
          </a:p>
        </p:txBody>
      </p:sp>
      <p:sp>
        <p:nvSpPr>
          <p:cNvPr id="43" name="Oval 42"/>
          <p:cNvSpPr/>
          <p:nvPr/>
        </p:nvSpPr>
        <p:spPr>
          <a:xfrm>
            <a:off x="4690872" y="2752343"/>
            <a:ext cx="219456" cy="219456"/>
          </a:xfrm>
          <a:prstGeom prst="ellipse">
            <a:avLst/>
          </a:prstGeom>
          <a:solidFill>
            <a:srgbClr val="5DD6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690872" y="2747771"/>
            <a:ext cx="219456" cy="219456"/>
          </a:xfrm>
          <a:prstGeom prst="rect">
            <a:avLst/>
          </a:prstGeom>
          <a:noFill/>
        </p:spPr>
        <p:txBody>
          <a:bodyPr wrap="square" lIns="27432" rIns="27432" tIns="27432" bIns="27432" anchor="ctr">
            <a:spAutoFit/>
          </a:bodyPr>
          <a:lstStyle/>
          <a:p>
            <a:pPr algn="ctr">
              <a:lnSpc>
                <a:spcPct val="105000"/>
              </a:lnSpc>
              <a:spcBef>
                <a:spcPts val="0"/>
              </a:spcBef>
              <a:spcAft>
                <a:spcPts val="0"/>
              </a:spcAft>
            </a:pPr>
            <a:r>
              <a:rPr sz="700" b="1" i="0">
                <a:solidFill>
                  <a:srgbClr val="07140F"/>
                </a:solidFill>
                <a:latin typeface="Aptos"/>
              </a:rPr>
              <a:t>1</a:t>
            </a:r>
          </a:p>
        </p:txBody>
      </p:sp>
      <p:sp>
        <p:nvSpPr>
          <p:cNvPr id="45" name="TextBox 44"/>
          <p:cNvSpPr txBox="1"/>
          <p:nvPr/>
        </p:nvSpPr>
        <p:spPr>
          <a:xfrm>
            <a:off x="5020056" y="2724911"/>
            <a:ext cx="1266078" cy="246888"/>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150" b="1" i="0">
                <a:solidFill>
                  <a:srgbClr val="F5F8F6"/>
                </a:solidFill>
                <a:latin typeface="Aptos"/>
              </a:rPr>
              <a:t>Spread Analyst</a:t>
            </a:r>
          </a:p>
        </p:txBody>
      </p:sp>
      <p:sp>
        <p:nvSpPr>
          <p:cNvPr id="46" name="TextBox 45"/>
          <p:cNvSpPr txBox="1"/>
          <p:nvPr/>
        </p:nvSpPr>
        <p:spPr>
          <a:xfrm>
            <a:off x="6020775" y="2734055"/>
            <a:ext cx="1177747" cy="219456"/>
          </a:xfrm>
          <a:prstGeom prst="rect">
            <a:avLst/>
          </a:prstGeom>
          <a:noFill/>
        </p:spPr>
        <p:txBody>
          <a:bodyPr wrap="square" lIns="27432" rIns="27432" tIns="27432" bIns="27432" anchor="t">
            <a:spAutoFit/>
          </a:bodyPr>
          <a:lstStyle/>
          <a:p>
            <a:pPr algn="r">
              <a:lnSpc>
                <a:spcPct val="105000"/>
              </a:lnSpc>
              <a:spcBef>
                <a:spcPts val="0"/>
              </a:spcBef>
              <a:spcAft>
                <a:spcPts val="0"/>
              </a:spcAft>
            </a:pPr>
            <a:r>
              <a:rPr sz="880" b="0" i="0">
                <a:solidFill>
                  <a:srgbClr val="A7B9B0"/>
                </a:solidFill>
                <a:latin typeface="Aptos"/>
              </a:rPr>
              <a:t>% + clusters + direction</a:t>
            </a:r>
          </a:p>
        </p:txBody>
      </p:sp>
      <p:sp>
        <p:nvSpPr>
          <p:cNvPr id="47" name="Oval 46"/>
          <p:cNvSpPr/>
          <p:nvPr/>
        </p:nvSpPr>
        <p:spPr>
          <a:xfrm>
            <a:off x="4690872" y="4192524"/>
            <a:ext cx="219456" cy="219456"/>
          </a:xfrm>
          <a:prstGeom prst="ellipse">
            <a:avLst/>
          </a:prstGeom>
          <a:solidFill>
            <a:srgbClr val="5DD6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690872" y="4187952"/>
            <a:ext cx="219456" cy="219456"/>
          </a:xfrm>
          <a:prstGeom prst="rect">
            <a:avLst/>
          </a:prstGeom>
          <a:noFill/>
        </p:spPr>
        <p:txBody>
          <a:bodyPr wrap="square" lIns="27432" rIns="27432" tIns="27432" bIns="27432" anchor="ctr">
            <a:spAutoFit/>
          </a:bodyPr>
          <a:lstStyle/>
          <a:p>
            <a:pPr algn="ctr">
              <a:lnSpc>
                <a:spcPct val="105000"/>
              </a:lnSpc>
              <a:spcBef>
                <a:spcPts val="0"/>
              </a:spcBef>
              <a:spcAft>
                <a:spcPts val="0"/>
              </a:spcAft>
            </a:pPr>
            <a:r>
              <a:rPr sz="700" b="1" i="0">
                <a:solidFill>
                  <a:srgbClr val="07140F"/>
                </a:solidFill>
                <a:latin typeface="Aptos"/>
              </a:rPr>
              <a:t>2</a:t>
            </a:r>
          </a:p>
        </p:txBody>
      </p:sp>
      <p:sp>
        <p:nvSpPr>
          <p:cNvPr id="49" name="TextBox 48"/>
          <p:cNvSpPr txBox="1"/>
          <p:nvPr/>
        </p:nvSpPr>
        <p:spPr>
          <a:xfrm>
            <a:off x="5020056" y="4165091"/>
            <a:ext cx="1266078" cy="246888"/>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150" b="1" i="0">
                <a:solidFill>
                  <a:srgbClr val="F5F8F6"/>
                </a:solidFill>
                <a:latin typeface="Aptos"/>
              </a:rPr>
              <a:t>RAG Agronomist</a:t>
            </a:r>
          </a:p>
        </p:txBody>
      </p:sp>
      <p:sp>
        <p:nvSpPr>
          <p:cNvPr id="50" name="TextBox 49"/>
          <p:cNvSpPr txBox="1"/>
          <p:nvPr/>
        </p:nvSpPr>
        <p:spPr>
          <a:xfrm>
            <a:off x="6020775" y="4174235"/>
            <a:ext cx="1177747" cy="219456"/>
          </a:xfrm>
          <a:prstGeom prst="rect">
            <a:avLst/>
          </a:prstGeom>
          <a:noFill/>
        </p:spPr>
        <p:txBody>
          <a:bodyPr wrap="square" lIns="27432" rIns="27432" tIns="27432" bIns="27432" anchor="t">
            <a:spAutoFit/>
          </a:bodyPr>
          <a:lstStyle/>
          <a:p>
            <a:pPr algn="r">
              <a:lnSpc>
                <a:spcPct val="105000"/>
              </a:lnSpc>
              <a:spcBef>
                <a:spcPts val="0"/>
              </a:spcBef>
              <a:spcAft>
                <a:spcPts val="0"/>
              </a:spcAft>
            </a:pPr>
            <a:r>
              <a:rPr sz="880" b="0" i="0">
                <a:solidFill>
                  <a:srgbClr val="A7B9B0"/>
                </a:solidFill>
                <a:latin typeface="Aptos"/>
              </a:rPr>
              <a:t>source-grounded draft</a:t>
            </a:r>
          </a:p>
        </p:txBody>
      </p:sp>
      <p:sp>
        <p:nvSpPr>
          <p:cNvPr id="51" name="Rounded Rectangle 50"/>
          <p:cNvSpPr/>
          <p:nvPr/>
        </p:nvSpPr>
        <p:spPr>
          <a:xfrm>
            <a:off x="7580375" y="2084831"/>
            <a:ext cx="4023360" cy="3502152"/>
          </a:xfrm>
          <a:prstGeom prst="roundRect">
            <a:avLst/>
          </a:prstGeom>
          <a:solidFill>
            <a:srgbClr val="0C2119"/>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781544" y="2286000"/>
            <a:ext cx="3621024" cy="21945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900" b="1" i="0" spc="120">
                <a:solidFill>
                  <a:srgbClr val="F4C84A"/>
                </a:solidFill>
                <a:latin typeface="Aptos"/>
              </a:rPr>
              <a:t>SAFETY + ACTION</a:t>
            </a:r>
          </a:p>
        </p:txBody>
      </p:sp>
      <p:sp>
        <p:nvSpPr>
          <p:cNvPr id="53" name="Oval 52"/>
          <p:cNvSpPr/>
          <p:nvPr/>
        </p:nvSpPr>
        <p:spPr>
          <a:xfrm>
            <a:off x="7781544" y="2752343"/>
            <a:ext cx="219456" cy="219456"/>
          </a:xfrm>
          <a:prstGeom prst="ellipse">
            <a:avLst/>
          </a:prstGeom>
          <a:solidFill>
            <a:srgbClr val="F4C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81544" y="2747771"/>
            <a:ext cx="219456" cy="219456"/>
          </a:xfrm>
          <a:prstGeom prst="rect">
            <a:avLst/>
          </a:prstGeom>
          <a:noFill/>
        </p:spPr>
        <p:txBody>
          <a:bodyPr wrap="square" lIns="27432" rIns="27432" tIns="27432" bIns="27432" anchor="ctr">
            <a:spAutoFit/>
          </a:bodyPr>
          <a:lstStyle/>
          <a:p>
            <a:pPr algn="ctr">
              <a:lnSpc>
                <a:spcPct val="105000"/>
              </a:lnSpc>
              <a:spcBef>
                <a:spcPts val="0"/>
              </a:spcBef>
              <a:spcAft>
                <a:spcPts val="0"/>
              </a:spcAft>
            </a:pPr>
            <a:r>
              <a:rPr sz="700" b="1" i="0">
                <a:solidFill>
                  <a:srgbClr val="07140F"/>
                </a:solidFill>
                <a:latin typeface="Aptos"/>
              </a:rPr>
              <a:t>1</a:t>
            </a:r>
          </a:p>
        </p:txBody>
      </p:sp>
      <p:sp>
        <p:nvSpPr>
          <p:cNvPr id="55" name="TextBox 54"/>
          <p:cNvSpPr txBox="1"/>
          <p:nvPr/>
        </p:nvSpPr>
        <p:spPr>
          <a:xfrm>
            <a:off x="8110727" y="2724911"/>
            <a:ext cx="1730044" cy="246888"/>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150" b="1" i="0">
                <a:solidFill>
                  <a:srgbClr val="F5F8F6"/>
                </a:solidFill>
                <a:latin typeface="Aptos"/>
              </a:rPr>
              <a:t>Verifier</a:t>
            </a:r>
          </a:p>
        </p:txBody>
      </p:sp>
      <p:sp>
        <p:nvSpPr>
          <p:cNvPr id="56" name="TextBox 55"/>
          <p:cNvSpPr txBox="1"/>
          <p:nvPr/>
        </p:nvSpPr>
        <p:spPr>
          <a:xfrm>
            <a:off x="9672523" y="2734055"/>
            <a:ext cx="1609344" cy="219456"/>
          </a:xfrm>
          <a:prstGeom prst="rect">
            <a:avLst/>
          </a:prstGeom>
          <a:noFill/>
        </p:spPr>
        <p:txBody>
          <a:bodyPr wrap="square" lIns="27432" rIns="27432" tIns="27432" bIns="27432" anchor="t">
            <a:spAutoFit/>
          </a:bodyPr>
          <a:lstStyle/>
          <a:p>
            <a:pPr algn="r">
              <a:lnSpc>
                <a:spcPct val="105000"/>
              </a:lnSpc>
              <a:spcBef>
                <a:spcPts val="0"/>
              </a:spcBef>
              <a:spcAft>
                <a:spcPts val="0"/>
              </a:spcAft>
            </a:pPr>
            <a:r>
              <a:rPr sz="880" b="0" i="0">
                <a:solidFill>
                  <a:srgbClr val="A7B9B0"/>
                </a:solidFill>
                <a:latin typeface="Aptos"/>
              </a:rPr>
              <a:t>PASS / REWRITE / BLOCK</a:t>
            </a:r>
          </a:p>
        </p:txBody>
      </p:sp>
      <p:sp>
        <p:nvSpPr>
          <p:cNvPr id="57" name="Oval 56"/>
          <p:cNvSpPr/>
          <p:nvPr/>
        </p:nvSpPr>
        <p:spPr>
          <a:xfrm>
            <a:off x="7781544" y="3712463"/>
            <a:ext cx="219456" cy="219456"/>
          </a:xfrm>
          <a:prstGeom prst="ellipse">
            <a:avLst/>
          </a:prstGeom>
          <a:solidFill>
            <a:srgbClr val="F4C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781544" y="3707891"/>
            <a:ext cx="219456" cy="219456"/>
          </a:xfrm>
          <a:prstGeom prst="rect">
            <a:avLst/>
          </a:prstGeom>
          <a:noFill/>
        </p:spPr>
        <p:txBody>
          <a:bodyPr wrap="square" lIns="27432" rIns="27432" tIns="27432" bIns="27432" anchor="ctr">
            <a:spAutoFit/>
          </a:bodyPr>
          <a:lstStyle/>
          <a:p>
            <a:pPr algn="ctr">
              <a:lnSpc>
                <a:spcPct val="105000"/>
              </a:lnSpc>
              <a:spcBef>
                <a:spcPts val="0"/>
              </a:spcBef>
              <a:spcAft>
                <a:spcPts val="0"/>
              </a:spcAft>
            </a:pPr>
            <a:r>
              <a:rPr sz="700" b="1" i="0">
                <a:solidFill>
                  <a:srgbClr val="07140F"/>
                </a:solidFill>
                <a:latin typeface="Aptos"/>
              </a:rPr>
              <a:t>2</a:t>
            </a:r>
          </a:p>
        </p:txBody>
      </p:sp>
      <p:sp>
        <p:nvSpPr>
          <p:cNvPr id="59" name="TextBox 58"/>
          <p:cNvSpPr txBox="1"/>
          <p:nvPr/>
        </p:nvSpPr>
        <p:spPr>
          <a:xfrm>
            <a:off x="8110727" y="3685031"/>
            <a:ext cx="1730044" cy="246888"/>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150" b="1" i="0">
                <a:solidFill>
                  <a:srgbClr val="F5F8F6"/>
                </a:solidFill>
                <a:latin typeface="Aptos"/>
              </a:rPr>
              <a:t>Action Planner</a:t>
            </a:r>
          </a:p>
        </p:txBody>
      </p:sp>
      <p:sp>
        <p:nvSpPr>
          <p:cNvPr id="60" name="TextBox 59"/>
          <p:cNvSpPr txBox="1"/>
          <p:nvPr/>
        </p:nvSpPr>
        <p:spPr>
          <a:xfrm>
            <a:off x="9672523" y="3694175"/>
            <a:ext cx="1609344" cy="219456"/>
          </a:xfrm>
          <a:prstGeom prst="rect">
            <a:avLst/>
          </a:prstGeom>
          <a:noFill/>
        </p:spPr>
        <p:txBody>
          <a:bodyPr wrap="square" lIns="27432" rIns="27432" tIns="27432" bIns="27432" anchor="t">
            <a:spAutoFit/>
          </a:bodyPr>
          <a:lstStyle/>
          <a:p>
            <a:pPr algn="r">
              <a:lnSpc>
                <a:spcPct val="105000"/>
              </a:lnSpc>
              <a:spcBef>
                <a:spcPts val="0"/>
              </a:spcBef>
              <a:spcAft>
                <a:spcPts val="0"/>
              </a:spcAft>
            </a:pPr>
            <a:r>
              <a:rPr sz="880" b="0" i="0">
                <a:solidFill>
                  <a:srgbClr val="A7B9B0"/>
                </a:solidFill>
                <a:latin typeface="Aptos"/>
              </a:rPr>
              <a:t>schedule + cost</a:t>
            </a:r>
          </a:p>
        </p:txBody>
      </p:sp>
      <p:sp>
        <p:nvSpPr>
          <p:cNvPr id="61" name="Oval 60"/>
          <p:cNvSpPr/>
          <p:nvPr/>
        </p:nvSpPr>
        <p:spPr>
          <a:xfrm>
            <a:off x="7781544" y="4672584"/>
            <a:ext cx="219456" cy="219456"/>
          </a:xfrm>
          <a:prstGeom prst="ellipse">
            <a:avLst/>
          </a:prstGeom>
          <a:solidFill>
            <a:srgbClr val="F4C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781544" y="4668012"/>
            <a:ext cx="219456" cy="219456"/>
          </a:xfrm>
          <a:prstGeom prst="rect">
            <a:avLst/>
          </a:prstGeom>
          <a:noFill/>
        </p:spPr>
        <p:txBody>
          <a:bodyPr wrap="square" lIns="27432" rIns="27432" tIns="27432" bIns="27432" anchor="ctr">
            <a:spAutoFit/>
          </a:bodyPr>
          <a:lstStyle/>
          <a:p>
            <a:pPr algn="ctr">
              <a:lnSpc>
                <a:spcPct val="105000"/>
              </a:lnSpc>
              <a:spcBef>
                <a:spcPts val="0"/>
              </a:spcBef>
              <a:spcAft>
                <a:spcPts val="0"/>
              </a:spcAft>
            </a:pPr>
            <a:r>
              <a:rPr sz="700" b="1" i="0">
                <a:solidFill>
                  <a:srgbClr val="07140F"/>
                </a:solidFill>
                <a:latin typeface="Aptos"/>
              </a:rPr>
              <a:t>3</a:t>
            </a:r>
          </a:p>
        </p:txBody>
      </p:sp>
      <p:sp>
        <p:nvSpPr>
          <p:cNvPr id="63" name="TextBox 62"/>
          <p:cNvSpPr txBox="1"/>
          <p:nvPr/>
        </p:nvSpPr>
        <p:spPr>
          <a:xfrm>
            <a:off x="8110727" y="4645152"/>
            <a:ext cx="1730044" cy="246888"/>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150" b="1" i="0">
                <a:solidFill>
                  <a:srgbClr val="F5F8F6"/>
                </a:solidFill>
                <a:latin typeface="Aptos"/>
              </a:rPr>
              <a:t>Reporter</a:t>
            </a:r>
          </a:p>
        </p:txBody>
      </p:sp>
      <p:sp>
        <p:nvSpPr>
          <p:cNvPr id="64" name="TextBox 63"/>
          <p:cNvSpPr txBox="1"/>
          <p:nvPr/>
        </p:nvSpPr>
        <p:spPr>
          <a:xfrm>
            <a:off x="9672523" y="4654296"/>
            <a:ext cx="1609344" cy="219456"/>
          </a:xfrm>
          <a:prstGeom prst="rect">
            <a:avLst/>
          </a:prstGeom>
          <a:noFill/>
        </p:spPr>
        <p:txBody>
          <a:bodyPr wrap="square" lIns="27432" rIns="27432" tIns="27432" bIns="27432" anchor="t">
            <a:spAutoFit/>
          </a:bodyPr>
          <a:lstStyle/>
          <a:p>
            <a:pPr algn="r">
              <a:lnSpc>
                <a:spcPct val="105000"/>
              </a:lnSpc>
              <a:spcBef>
                <a:spcPts val="0"/>
              </a:spcBef>
              <a:spcAft>
                <a:spcPts val="0"/>
              </a:spcAft>
            </a:pPr>
            <a:r>
              <a:rPr sz="880" b="0" i="0">
                <a:solidFill>
                  <a:srgbClr val="A7B9B0"/>
                </a:solidFill>
                <a:latin typeface="Aptos"/>
              </a:rPr>
              <a:t>farmer brief EN / HI</a:t>
            </a:r>
          </a:p>
        </p:txBody>
      </p:sp>
      <p:sp>
        <p:nvSpPr>
          <p:cNvPr id="65" name="TextBox 64"/>
          <p:cNvSpPr txBox="1"/>
          <p:nvPr/>
        </p:nvSpPr>
        <p:spPr>
          <a:xfrm>
            <a:off x="603504" y="5870448"/>
            <a:ext cx="1243584" cy="18288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800" b="1" i="0" spc="80">
                <a:solidFill>
                  <a:srgbClr val="36D399"/>
                </a:solidFill>
                <a:latin typeface="Aptos"/>
              </a:rPr>
              <a:t>ORCHESTRATOR</a:t>
            </a:r>
          </a:p>
        </p:txBody>
      </p:sp>
      <p:sp>
        <p:nvSpPr>
          <p:cNvPr id="66" name="Rectangle 65"/>
          <p:cNvSpPr/>
          <p:nvPr/>
        </p:nvSpPr>
        <p:spPr>
          <a:xfrm>
            <a:off x="1993392" y="5943600"/>
            <a:ext cx="6446520" cy="27432"/>
          </a:xfrm>
          <a:prstGeom prst="rect">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622792" y="5788152"/>
            <a:ext cx="2926080" cy="338328"/>
          </a:xfrm>
          <a:prstGeom prst="rect">
            <a:avLst/>
          </a:prstGeom>
          <a:noFill/>
        </p:spPr>
        <p:txBody>
          <a:bodyPr wrap="square" lIns="27432" rIns="27432" tIns="27432" bIns="27432" anchor="t">
            <a:spAutoFit/>
          </a:bodyPr>
          <a:lstStyle/>
          <a:p>
            <a:pPr algn="r">
              <a:lnSpc>
                <a:spcPct val="105000"/>
              </a:lnSpc>
              <a:spcBef>
                <a:spcPts val="0"/>
              </a:spcBef>
              <a:spcAft>
                <a:spcPts val="0"/>
              </a:spcAft>
            </a:pPr>
            <a:r>
              <a:rPr sz="1100" b="1" i="0">
                <a:solidFill>
                  <a:srgbClr val="75E6B8"/>
                </a:solidFill>
                <a:latin typeface="Aptos"/>
              </a:rPr>
              <a:t>Shared RunState + SSE events → live agent timeline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140F"/>
        </a:solidFill>
        <a:effectLst/>
      </p:bgPr>
    </p:bg>
    <p:spTree>
      <p:nvGrpSpPr>
        <p:cNvPr id="1" name=""/>
        <p:cNvGrpSpPr/>
        <p:nvPr/>
      </p:nvGrpSpPr>
      <p:grpSpPr/>
      <p:sp>
        <p:nvSpPr>
          <p:cNvPr id="2" name="Rectangle 1"/>
          <p:cNvSpPr/>
          <p:nvPr/>
        </p:nvSpPr>
        <p:spPr>
          <a:xfrm>
            <a:off x="10168128"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552176"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36224"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320272"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704319"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149840" y="146304"/>
            <a:ext cx="2039112" cy="9144"/>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149840" y="365760"/>
            <a:ext cx="2039112" cy="9144"/>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149840" y="585216"/>
            <a:ext cx="2039112" cy="9144"/>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iamond 9"/>
          <p:cNvSpPr/>
          <p:nvPr/>
        </p:nvSpPr>
        <p:spPr>
          <a:xfrm>
            <a:off x="502920" y="310896"/>
            <a:ext cx="292608" cy="292608"/>
          </a:xfrm>
          <a:prstGeom prst="diamond">
            <a:avLst/>
          </a:prstGeom>
          <a:solidFill>
            <a:srgbClr val="132F25"/>
          </a:solidFill>
          <a:ln w="13970">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iamond 10"/>
          <p:cNvSpPr/>
          <p:nvPr/>
        </p:nvSpPr>
        <p:spPr>
          <a:xfrm>
            <a:off x="598932" y="406908"/>
            <a:ext cx="100584" cy="100584"/>
          </a:xfrm>
          <a:prstGeom prst="diamond">
            <a:avLst/>
          </a:prstGeom>
          <a:solidFill>
            <a:srgbClr val="75E6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3544" y="301752"/>
            <a:ext cx="1920240" cy="21945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000" b="1" i="0">
                <a:solidFill>
                  <a:srgbClr val="F5F8F6"/>
                </a:solidFill>
                <a:latin typeface="Aptos"/>
              </a:rPr>
              <a:t>AGRISENTINEL</a:t>
            </a:r>
          </a:p>
        </p:txBody>
      </p:sp>
      <p:sp>
        <p:nvSpPr>
          <p:cNvPr id="13" name="TextBox 12"/>
          <p:cNvSpPr txBox="1"/>
          <p:nvPr/>
        </p:nvSpPr>
        <p:spPr>
          <a:xfrm>
            <a:off x="923544" y="466344"/>
            <a:ext cx="2011680" cy="146304"/>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650" b="1" i="0" spc="90">
                <a:solidFill>
                  <a:srgbClr val="36D399"/>
                </a:solidFill>
                <a:latin typeface="Aptos"/>
              </a:rPr>
              <a:t>AUTONOMOUS FIELD HEALTH</a:t>
            </a:r>
          </a:p>
        </p:txBody>
      </p:sp>
      <p:sp>
        <p:nvSpPr>
          <p:cNvPr id="14" name="TextBox 13"/>
          <p:cNvSpPr txBox="1"/>
          <p:nvPr/>
        </p:nvSpPr>
        <p:spPr>
          <a:xfrm>
            <a:off x="11082528" y="283464"/>
            <a:ext cx="502920" cy="228600"/>
          </a:xfrm>
          <a:prstGeom prst="rect">
            <a:avLst/>
          </a:prstGeom>
          <a:noFill/>
        </p:spPr>
        <p:txBody>
          <a:bodyPr wrap="square" lIns="27432" rIns="27432" tIns="27432" bIns="27432" anchor="t">
            <a:spAutoFit/>
          </a:bodyPr>
          <a:lstStyle/>
          <a:p>
            <a:pPr algn="r">
              <a:lnSpc>
                <a:spcPct val="105000"/>
              </a:lnSpc>
              <a:spcBef>
                <a:spcPts val="0"/>
              </a:spcBef>
              <a:spcAft>
                <a:spcPts val="0"/>
              </a:spcAft>
            </a:pPr>
            <a:r>
              <a:rPr sz="900" b="1" i="0">
                <a:solidFill>
                  <a:srgbClr val="6E8278"/>
                </a:solidFill>
                <a:latin typeface="Aptos"/>
              </a:rPr>
              <a:t>07</a:t>
            </a:r>
          </a:p>
        </p:txBody>
      </p:sp>
      <p:sp>
        <p:nvSpPr>
          <p:cNvPr id="15" name="TextBox 14"/>
          <p:cNvSpPr txBox="1"/>
          <p:nvPr/>
        </p:nvSpPr>
        <p:spPr>
          <a:xfrm>
            <a:off x="9189720" y="283464"/>
            <a:ext cx="1783080" cy="228600"/>
          </a:xfrm>
          <a:prstGeom prst="rect">
            <a:avLst/>
          </a:prstGeom>
          <a:noFill/>
        </p:spPr>
        <p:txBody>
          <a:bodyPr wrap="square" lIns="27432" rIns="27432" tIns="27432" bIns="27432" anchor="t">
            <a:spAutoFit/>
          </a:bodyPr>
          <a:lstStyle/>
          <a:p>
            <a:pPr algn="r">
              <a:lnSpc>
                <a:spcPct val="105000"/>
              </a:lnSpc>
              <a:spcBef>
                <a:spcPts val="0"/>
              </a:spcBef>
              <a:spcAft>
                <a:spcPts val="0"/>
              </a:spcAft>
            </a:pPr>
            <a:r>
              <a:rPr sz="800" b="1" i="0" spc="100">
                <a:solidFill>
                  <a:srgbClr val="36D399"/>
                </a:solidFill>
                <a:latin typeface="Aptos"/>
              </a:rPr>
              <a:t>PRODUCT</a:t>
            </a:r>
          </a:p>
        </p:txBody>
      </p:sp>
      <p:sp>
        <p:nvSpPr>
          <p:cNvPr id="16" name="TextBox 15"/>
          <p:cNvSpPr txBox="1"/>
          <p:nvPr/>
        </p:nvSpPr>
        <p:spPr>
          <a:xfrm>
            <a:off x="530352" y="896112"/>
            <a:ext cx="10881360" cy="59436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2800" b="1" i="0">
                <a:solidFill>
                  <a:srgbClr val="F5F8F6"/>
                </a:solidFill>
                <a:latin typeface="Aptos"/>
              </a:rPr>
              <a:t>The full decision is visible in one console</a:t>
            </a:r>
          </a:p>
        </p:txBody>
      </p:sp>
      <p:sp>
        <p:nvSpPr>
          <p:cNvPr id="17" name="TextBox 16"/>
          <p:cNvSpPr txBox="1"/>
          <p:nvPr/>
        </p:nvSpPr>
        <p:spPr>
          <a:xfrm>
            <a:off x="548640" y="1481328"/>
            <a:ext cx="10515600" cy="384048"/>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350" b="0" i="0">
                <a:solidFill>
                  <a:srgbClr val="A7B9B0"/>
                </a:solidFill>
                <a:latin typeface="Aptos"/>
              </a:rPr>
              <a:t>This screenshot is the running React interface in offline replay mode, using the same event consumer as the live API.</a:t>
            </a:r>
          </a:p>
        </p:txBody>
      </p:sp>
      <p:sp>
        <p:nvSpPr>
          <p:cNvPr id="18" name="TextBox 17"/>
          <p:cNvSpPr txBox="1"/>
          <p:nvPr/>
        </p:nvSpPr>
        <p:spPr>
          <a:xfrm>
            <a:off x="530352" y="6547104"/>
            <a:ext cx="6217920" cy="16459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750" b="1" i="0" spc="70">
                <a:solidFill>
                  <a:srgbClr val="6E8278"/>
                </a:solidFill>
                <a:latin typeface="Aptos"/>
              </a:rPr>
              <a:t>AAROH AI/ML HACKATHON  •  VISHAL + KHUSHI</a:t>
            </a:r>
          </a:p>
        </p:txBody>
      </p:sp>
      <p:sp>
        <p:nvSpPr>
          <p:cNvPr id="19" name="Rounded Rectangle 18"/>
          <p:cNvSpPr/>
          <p:nvPr/>
        </p:nvSpPr>
        <p:spPr>
          <a:xfrm>
            <a:off x="548640" y="1984248"/>
            <a:ext cx="7973568" cy="4242816"/>
          </a:xfrm>
          <a:prstGeom prst="roundRect">
            <a:avLst/>
          </a:prstGeom>
          <a:solidFill>
            <a:srgbClr val="0A1712"/>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grisentinel-product.png"/>
          <p:cNvPicPr>
            <a:picLocks noChangeAspect="1"/>
          </p:cNvPicPr>
          <p:nvPr/>
        </p:nvPicPr>
        <p:blipFill>
          <a:blip r:embed="rId2"/>
          <a:srcRect b="71627"/>
          <a:stretch>
            <a:fillRect/>
          </a:stretch>
        </p:blipFill>
        <p:spPr>
          <a:xfrm>
            <a:off x="658368" y="2093976"/>
            <a:ext cx="7754112" cy="4023360"/>
          </a:xfrm>
          <a:prstGeom prst="rect">
            <a:avLst/>
          </a:prstGeom>
        </p:spPr>
      </p:pic>
      <p:sp>
        <p:nvSpPr>
          <p:cNvPr id="21" name="Rectangle 20"/>
          <p:cNvSpPr/>
          <p:nvPr/>
        </p:nvSpPr>
        <p:spPr>
          <a:xfrm>
            <a:off x="658368" y="2093976"/>
            <a:ext cx="7754112" cy="4023360"/>
          </a:xfrm>
          <a:prstGeom prst="rect">
            <a:avLst/>
          </a:prstGeom>
          <a:noFill/>
          <a:ln w="1270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778240" y="2093976"/>
            <a:ext cx="2798064" cy="713232"/>
          </a:xfrm>
          <a:prstGeom prst="roundRect">
            <a:avLst/>
          </a:prstGeom>
          <a:solidFill>
            <a:srgbClr val="0C2119"/>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88552" y="2212848"/>
            <a:ext cx="868680" cy="34747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2000" b="1" i="0">
                <a:solidFill>
                  <a:srgbClr val="F97316"/>
                </a:solidFill>
                <a:latin typeface="Aptos"/>
              </a:rPr>
              <a:t>18.4%</a:t>
            </a:r>
          </a:p>
        </p:txBody>
      </p:sp>
      <p:sp>
        <p:nvSpPr>
          <p:cNvPr id="24" name="TextBox 23"/>
          <p:cNvSpPr txBox="1"/>
          <p:nvPr/>
        </p:nvSpPr>
        <p:spPr>
          <a:xfrm>
            <a:off x="9939528" y="2304288"/>
            <a:ext cx="1417320" cy="18288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750" b="1" i="0" spc="55">
                <a:solidFill>
                  <a:srgbClr val="A7B9B0"/>
                </a:solidFill>
                <a:latin typeface="Aptos"/>
              </a:rPr>
              <a:t>FIELD AFFECTED</a:t>
            </a:r>
          </a:p>
        </p:txBody>
      </p:sp>
      <p:sp>
        <p:nvSpPr>
          <p:cNvPr id="25" name="Rounded Rectangle 24"/>
          <p:cNvSpPr/>
          <p:nvPr/>
        </p:nvSpPr>
        <p:spPr>
          <a:xfrm>
            <a:off x="8778240" y="2980944"/>
            <a:ext cx="2798064" cy="713232"/>
          </a:xfrm>
          <a:prstGeom prst="roundRect">
            <a:avLst/>
          </a:prstGeom>
          <a:solidFill>
            <a:srgbClr val="0C2119"/>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88552" y="3099815"/>
            <a:ext cx="868680" cy="34747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2000" b="1" i="0">
                <a:solidFill>
                  <a:srgbClr val="F4C84A"/>
                </a:solidFill>
                <a:latin typeface="Aptos"/>
              </a:rPr>
              <a:t>3</a:t>
            </a:r>
          </a:p>
        </p:txBody>
      </p:sp>
      <p:sp>
        <p:nvSpPr>
          <p:cNvPr id="27" name="TextBox 26"/>
          <p:cNvSpPr txBox="1"/>
          <p:nvPr/>
        </p:nvSpPr>
        <p:spPr>
          <a:xfrm>
            <a:off x="9939528" y="3191256"/>
            <a:ext cx="1417320" cy="18288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750" b="1" i="0" spc="55">
                <a:solidFill>
                  <a:srgbClr val="A7B9B0"/>
                </a:solidFill>
                <a:latin typeface="Aptos"/>
              </a:rPr>
              <a:t>INFECTION CLUSTERS</a:t>
            </a:r>
          </a:p>
        </p:txBody>
      </p:sp>
      <p:sp>
        <p:nvSpPr>
          <p:cNvPr id="28" name="Rounded Rectangle 27"/>
          <p:cNvSpPr/>
          <p:nvPr/>
        </p:nvSpPr>
        <p:spPr>
          <a:xfrm>
            <a:off x="8778240" y="3867912"/>
            <a:ext cx="2798064" cy="713232"/>
          </a:xfrm>
          <a:prstGeom prst="roundRect">
            <a:avLst/>
          </a:prstGeom>
          <a:solidFill>
            <a:srgbClr val="0C2119"/>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88552" y="3986784"/>
            <a:ext cx="868680" cy="34747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2000" b="1" i="0">
                <a:solidFill>
                  <a:srgbClr val="5DD6D3"/>
                </a:solidFill>
                <a:latin typeface="Aptos"/>
              </a:rPr>
              <a:t>NE</a:t>
            </a:r>
          </a:p>
        </p:txBody>
      </p:sp>
      <p:sp>
        <p:nvSpPr>
          <p:cNvPr id="30" name="TextBox 29"/>
          <p:cNvSpPr txBox="1"/>
          <p:nvPr/>
        </p:nvSpPr>
        <p:spPr>
          <a:xfrm>
            <a:off x="9939528" y="4078224"/>
            <a:ext cx="1417320" cy="18288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750" b="1" i="0" spc="55">
                <a:solidFill>
                  <a:srgbClr val="A7B9B0"/>
                </a:solidFill>
                <a:latin typeface="Aptos"/>
              </a:rPr>
              <a:t>SPREAD DIRECTION</a:t>
            </a:r>
          </a:p>
        </p:txBody>
      </p:sp>
      <p:sp>
        <p:nvSpPr>
          <p:cNvPr id="31" name="Rounded Rectangle 30"/>
          <p:cNvSpPr/>
          <p:nvPr/>
        </p:nvSpPr>
        <p:spPr>
          <a:xfrm>
            <a:off x="8778240" y="4754880"/>
            <a:ext cx="2798064" cy="713232"/>
          </a:xfrm>
          <a:prstGeom prst="roundRect">
            <a:avLst/>
          </a:prstGeom>
          <a:solidFill>
            <a:srgbClr val="0C2119"/>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88552" y="4873752"/>
            <a:ext cx="868680" cy="34747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2000" b="1" i="0">
                <a:solidFill>
                  <a:srgbClr val="36D399"/>
                </a:solidFill>
                <a:latin typeface="Aptos"/>
              </a:rPr>
              <a:t>7/7</a:t>
            </a:r>
          </a:p>
        </p:txBody>
      </p:sp>
      <p:sp>
        <p:nvSpPr>
          <p:cNvPr id="33" name="TextBox 32"/>
          <p:cNvSpPr txBox="1"/>
          <p:nvPr/>
        </p:nvSpPr>
        <p:spPr>
          <a:xfrm>
            <a:off x="9939528" y="4965192"/>
            <a:ext cx="1417320" cy="18288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750" b="1" i="0" spc="55">
                <a:solidFill>
                  <a:srgbClr val="A7B9B0"/>
                </a:solidFill>
                <a:latin typeface="Aptos"/>
              </a:rPr>
              <a:t>CLAIMS GROUNDED</a:t>
            </a:r>
          </a:p>
        </p:txBody>
      </p:sp>
      <p:sp>
        <p:nvSpPr>
          <p:cNvPr id="34" name="Rounded Rectangle 33"/>
          <p:cNvSpPr/>
          <p:nvPr/>
        </p:nvSpPr>
        <p:spPr>
          <a:xfrm>
            <a:off x="8778240" y="5669280"/>
            <a:ext cx="2798064" cy="448056"/>
          </a:xfrm>
          <a:prstGeom prst="roundRect">
            <a:avLst/>
          </a:prstGeom>
          <a:solidFill>
            <a:srgbClr val="0E2B20"/>
          </a:solidFill>
          <a:ln w="10160">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42832" y="5769864"/>
            <a:ext cx="2450592" cy="164592"/>
          </a:xfrm>
          <a:prstGeom prst="rect">
            <a:avLst/>
          </a:prstGeom>
          <a:noFill/>
        </p:spPr>
        <p:txBody>
          <a:bodyPr wrap="square" lIns="27432" rIns="27432" tIns="27432" bIns="27432" anchor="t">
            <a:spAutoFit/>
          </a:bodyPr>
          <a:lstStyle/>
          <a:p>
            <a:pPr algn="ctr">
              <a:lnSpc>
                <a:spcPct val="105000"/>
              </a:lnSpc>
              <a:spcBef>
                <a:spcPts val="0"/>
              </a:spcBef>
              <a:spcAft>
                <a:spcPts val="0"/>
              </a:spcAft>
            </a:pPr>
            <a:r>
              <a:rPr sz="900" b="1" i="0">
                <a:solidFill>
                  <a:srgbClr val="75E6B8"/>
                </a:solidFill>
                <a:latin typeface="Aptos"/>
              </a:rPr>
              <a:t>Same UI: live SSE or offline replay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140F"/>
        </a:solidFill>
        <a:effectLst/>
      </p:bgPr>
    </p:bg>
    <p:spTree>
      <p:nvGrpSpPr>
        <p:cNvPr id="1" name=""/>
        <p:cNvGrpSpPr/>
        <p:nvPr/>
      </p:nvGrpSpPr>
      <p:grpSpPr/>
      <p:sp>
        <p:nvSpPr>
          <p:cNvPr id="2" name="Rectangle 1"/>
          <p:cNvSpPr/>
          <p:nvPr/>
        </p:nvSpPr>
        <p:spPr>
          <a:xfrm>
            <a:off x="10168128"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552176"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36224"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320272"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704319"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149840" y="146304"/>
            <a:ext cx="2039112" cy="9144"/>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149840" y="365760"/>
            <a:ext cx="2039112" cy="9144"/>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149840" y="585216"/>
            <a:ext cx="2039112" cy="9144"/>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iamond 9"/>
          <p:cNvSpPr/>
          <p:nvPr/>
        </p:nvSpPr>
        <p:spPr>
          <a:xfrm>
            <a:off x="502920" y="310896"/>
            <a:ext cx="292608" cy="292608"/>
          </a:xfrm>
          <a:prstGeom prst="diamond">
            <a:avLst/>
          </a:prstGeom>
          <a:solidFill>
            <a:srgbClr val="132F25"/>
          </a:solidFill>
          <a:ln w="13970">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iamond 10"/>
          <p:cNvSpPr/>
          <p:nvPr/>
        </p:nvSpPr>
        <p:spPr>
          <a:xfrm>
            <a:off x="598932" y="406908"/>
            <a:ext cx="100584" cy="100584"/>
          </a:xfrm>
          <a:prstGeom prst="diamond">
            <a:avLst/>
          </a:prstGeom>
          <a:solidFill>
            <a:srgbClr val="75E6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3544" y="301752"/>
            <a:ext cx="1920240" cy="21945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000" b="1" i="0">
                <a:solidFill>
                  <a:srgbClr val="F5F8F6"/>
                </a:solidFill>
                <a:latin typeface="Aptos"/>
              </a:rPr>
              <a:t>AGRISENTINEL</a:t>
            </a:r>
          </a:p>
        </p:txBody>
      </p:sp>
      <p:sp>
        <p:nvSpPr>
          <p:cNvPr id="13" name="TextBox 12"/>
          <p:cNvSpPr txBox="1"/>
          <p:nvPr/>
        </p:nvSpPr>
        <p:spPr>
          <a:xfrm>
            <a:off x="923544" y="466344"/>
            <a:ext cx="2011680" cy="146304"/>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650" b="1" i="0" spc="90">
                <a:solidFill>
                  <a:srgbClr val="36D399"/>
                </a:solidFill>
                <a:latin typeface="Aptos"/>
              </a:rPr>
              <a:t>AUTONOMOUS FIELD HEALTH</a:t>
            </a:r>
          </a:p>
        </p:txBody>
      </p:sp>
      <p:sp>
        <p:nvSpPr>
          <p:cNvPr id="14" name="TextBox 13"/>
          <p:cNvSpPr txBox="1"/>
          <p:nvPr/>
        </p:nvSpPr>
        <p:spPr>
          <a:xfrm>
            <a:off x="11082528" y="283464"/>
            <a:ext cx="502920" cy="228600"/>
          </a:xfrm>
          <a:prstGeom prst="rect">
            <a:avLst/>
          </a:prstGeom>
          <a:noFill/>
        </p:spPr>
        <p:txBody>
          <a:bodyPr wrap="square" lIns="27432" rIns="27432" tIns="27432" bIns="27432" anchor="t">
            <a:spAutoFit/>
          </a:bodyPr>
          <a:lstStyle/>
          <a:p>
            <a:pPr algn="r">
              <a:lnSpc>
                <a:spcPct val="105000"/>
              </a:lnSpc>
              <a:spcBef>
                <a:spcPts val="0"/>
              </a:spcBef>
              <a:spcAft>
                <a:spcPts val="0"/>
              </a:spcAft>
            </a:pPr>
            <a:r>
              <a:rPr sz="900" b="1" i="0">
                <a:solidFill>
                  <a:srgbClr val="6E8278"/>
                </a:solidFill>
                <a:latin typeface="Aptos"/>
              </a:rPr>
              <a:t>08</a:t>
            </a:r>
          </a:p>
        </p:txBody>
      </p:sp>
      <p:sp>
        <p:nvSpPr>
          <p:cNvPr id="15" name="TextBox 14"/>
          <p:cNvSpPr txBox="1"/>
          <p:nvPr/>
        </p:nvSpPr>
        <p:spPr>
          <a:xfrm>
            <a:off x="9189720" y="283464"/>
            <a:ext cx="1783080" cy="228600"/>
          </a:xfrm>
          <a:prstGeom prst="rect">
            <a:avLst/>
          </a:prstGeom>
          <a:noFill/>
        </p:spPr>
        <p:txBody>
          <a:bodyPr wrap="square" lIns="27432" rIns="27432" tIns="27432" bIns="27432" anchor="t">
            <a:spAutoFit/>
          </a:bodyPr>
          <a:lstStyle/>
          <a:p>
            <a:pPr algn="r">
              <a:lnSpc>
                <a:spcPct val="105000"/>
              </a:lnSpc>
              <a:spcBef>
                <a:spcPts val="0"/>
              </a:spcBef>
              <a:spcAft>
                <a:spcPts val="0"/>
              </a:spcAft>
            </a:pPr>
            <a:r>
              <a:rPr sz="800" b="1" i="0" spc="100">
                <a:solidFill>
                  <a:srgbClr val="36D399"/>
                </a:solidFill>
                <a:latin typeface="Aptos"/>
              </a:rPr>
              <a:t>EVIDENCE</a:t>
            </a:r>
          </a:p>
        </p:txBody>
      </p:sp>
      <p:sp>
        <p:nvSpPr>
          <p:cNvPr id="16" name="TextBox 15"/>
          <p:cNvSpPr txBox="1"/>
          <p:nvPr/>
        </p:nvSpPr>
        <p:spPr>
          <a:xfrm>
            <a:off x="530352" y="896112"/>
            <a:ext cx="10881360" cy="59436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2800" b="1" i="0">
                <a:solidFill>
                  <a:srgbClr val="F5F8F6"/>
                </a:solidFill>
                <a:latin typeface="Aptos"/>
              </a:rPr>
              <a:t>Measured performance, not presentation claims</a:t>
            </a:r>
          </a:p>
        </p:txBody>
      </p:sp>
      <p:sp>
        <p:nvSpPr>
          <p:cNvPr id="17" name="TextBox 16"/>
          <p:cNvSpPr txBox="1"/>
          <p:nvPr/>
        </p:nvSpPr>
        <p:spPr>
          <a:xfrm>
            <a:off x="548640" y="1481328"/>
            <a:ext cx="10515600" cy="384048"/>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350" b="0" i="0">
                <a:solidFill>
                  <a:srgbClr val="A7B9B0"/>
                </a:solidFill>
                <a:latin typeface="Aptos"/>
              </a:rPr>
              <a:t>Results below come from committed artifacts and a 2,399-image, 14-class PlantVillage test split.</a:t>
            </a:r>
          </a:p>
        </p:txBody>
      </p:sp>
      <p:sp>
        <p:nvSpPr>
          <p:cNvPr id="18" name="TextBox 17"/>
          <p:cNvSpPr txBox="1"/>
          <p:nvPr/>
        </p:nvSpPr>
        <p:spPr>
          <a:xfrm>
            <a:off x="530352" y="6547104"/>
            <a:ext cx="6217920" cy="16459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750" b="1" i="0" spc="70">
                <a:solidFill>
                  <a:srgbClr val="6E8278"/>
                </a:solidFill>
                <a:latin typeface="Aptos"/>
              </a:rPr>
              <a:t>AAROH AI/ML HACKATHON  •  VISHAL + KHUSHI</a:t>
            </a:r>
          </a:p>
        </p:txBody>
      </p:sp>
      <p:sp>
        <p:nvSpPr>
          <p:cNvPr id="19" name="Rounded Rectangle 18"/>
          <p:cNvSpPr/>
          <p:nvPr/>
        </p:nvSpPr>
        <p:spPr>
          <a:xfrm>
            <a:off x="566928" y="2057400"/>
            <a:ext cx="2048256" cy="1261872"/>
          </a:xfrm>
          <a:prstGeom prst="roundRect">
            <a:avLst/>
          </a:prstGeom>
          <a:solidFill>
            <a:srgbClr val="0C2119"/>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2057400"/>
            <a:ext cx="54864" cy="1261872"/>
          </a:xfrm>
          <a:prstGeom prst="rect">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2240280"/>
            <a:ext cx="1737360" cy="43891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2500" b="1" i="0">
                <a:solidFill>
                  <a:srgbClr val="F5F8F6"/>
                </a:solidFill>
                <a:latin typeface="Aptos"/>
              </a:rPr>
              <a:t>95.6%</a:t>
            </a:r>
          </a:p>
        </p:txBody>
      </p:sp>
      <p:sp>
        <p:nvSpPr>
          <p:cNvPr id="22" name="TextBox 21"/>
          <p:cNvSpPr txBox="1"/>
          <p:nvPr/>
        </p:nvSpPr>
        <p:spPr>
          <a:xfrm>
            <a:off x="768096" y="2724912"/>
            <a:ext cx="1737360" cy="16459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750" b="1" i="0" spc="80">
                <a:solidFill>
                  <a:srgbClr val="36D399"/>
                </a:solidFill>
                <a:latin typeface="Aptos"/>
              </a:rPr>
              <a:t>TEST ACCURACY</a:t>
            </a:r>
          </a:p>
        </p:txBody>
      </p:sp>
      <p:sp>
        <p:nvSpPr>
          <p:cNvPr id="23" name="TextBox 22"/>
          <p:cNvSpPr txBox="1"/>
          <p:nvPr/>
        </p:nvSpPr>
        <p:spPr>
          <a:xfrm>
            <a:off x="768096" y="2953512"/>
            <a:ext cx="1737360" cy="201168"/>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850" b="0" i="0">
                <a:solidFill>
                  <a:srgbClr val="6E8278"/>
                </a:solidFill>
                <a:latin typeface="Aptos"/>
              </a:rPr>
              <a:t>clean test split</a:t>
            </a:r>
          </a:p>
        </p:txBody>
      </p:sp>
      <p:sp>
        <p:nvSpPr>
          <p:cNvPr id="24" name="Rounded Rectangle 23"/>
          <p:cNvSpPr/>
          <p:nvPr/>
        </p:nvSpPr>
        <p:spPr>
          <a:xfrm>
            <a:off x="2743200" y="2057400"/>
            <a:ext cx="2048256" cy="1261872"/>
          </a:xfrm>
          <a:prstGeom prst="roundRect">
            <a:avLst/>
          </a:prstGeom>
          <a:solidFill>
            <a:srgbClr val="0C2119"/>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743200" y="2057400"/>
            <a:ext cx="54864" cy="1261872"/>
          </a:xfrm>
          <a:prstGeom prst="rect">
            <a:avLst/>
          </a:prstGeom>
          <a:solidFill>
            <a:srgbClr val="5DD6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44368" y="2240280"/>
            <a:ext cx="1737360" cy="43891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2500" b="1" i="0">
                <a:solidFill>
                  <a:srgbClr val="F5F8F6"/>
                </a:solidFill>
                <a:latin typeface="Aptos"/>
              </a:rPr>
              <a:t>94.7%</a:t>
            </a:r>
          </a:p>
        </p:txBody>
      </p:sp>
      <p:sp>
        <p:nvSpPr>
          <p:cNvPr id="27" name="TextBox 26"/>
          <p:cNvSpPr txBox="1"/>
          <p:nvPr/>
        </p:nvSpPr>
        <p:spPr>
          <a:xfrm>
            <a:off x="2944368" y="2724912"/>
            <a:ext cx="1737360" cy="16459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750" b="1" i="0" spc="80">
                <a:solidFill>
                  <a:srgbClr val="5DD6D3"/>
                </a:solidFill>
                <a:latin typeface="Aptos"/>
              </a:rPr>
              <a:t>MACRO-F1</a:t>
            </a:r>
          </a:p>
        </p:txBody>
      </p:sp>
      <p:sp>
        <p:nvSpPr>
          <p:cNvPr id="28" name="TextBox 27"/>
          <p:cNvSpPr txBox="1"/>
          <p:nvPr/>
        </p:nvSpPr>
        <p:spPr>
          <a:xfrm>
            <a:off x="2944368" y="2953512"/>
            <a:ext cx="1737360" cy="201168"/>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850" b="0" i="0">
                <a:solidFill>
                  <a:srgbClr val="6E8278"/>
                </a:solidFill>
                <a:latin typeface="Aptos"/>
              </a:rPr>
              <a:t>+2.6 pp vs scratch</a:t>
            </a:r>
          </a:p>
        </p:txBody>
      </p:sp>
      <p:sp>
        <p:nvSpPr>
          <p:cNvPr id="29" name="Rounded Rectangle 28"/>
          <p:cNvSpPr/>
          <p:nvPr/>
        </p:nvSpPr>
        <p:spPr>
          <a:xfrm>
            <a:off x="566928" y="3502152"/>
            <a:ext cx="2048256" cy="1261872"/>
          </a:xfrm>
          <a:prstGeom prst="roundRect">
            <a:avLst/>
          </a:prstGeom>
          <a:solidFill>
            <a:srgbClr val="0C2119"/>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502152"/>
            <a:ext cx="54864" cy="1261872"/>
          </a:xfrm>
          <a:prstGeom prst="rect">
            <a:avLst/>
          </a:prstGeom>
          <a:solidFill>
            <a:srgbClr val="F4C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685032"/>
            <a:ext cx="1737360" cy="43891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2500" b="1" i="0">
                <a:solidFill>
                  <a:srgbClr val="F5F8F6"/>
                </a:solidFill>
                <a:latin typeface="Aptos"/>
              </a:rPr>
              <a:t>99.3%</a:t>
            </a:r>
          </a:p>
        </p:txBody>
      </p:sp>
      <p:sp>
        <p:nvSpPr>
          <p:cNvPr id="32" name="TextBox 31"/>
          <p:cNvSpPr txBox="1"/>
          <p:nvPr/>
        </p:nvSpPr>
        <p:spPr>
          <a:xfrm>
            <a:off x="768096" y="4169664"/>
            <a:ext cx="1737360" cy="16459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750" b="1" i="0" spc="80">
                <a:solidFill>
                  <a:srgbClr val="F4C84A"/>
                </a:solidFill>
                <a:latin typeface="Aptos"/>
              </a:rPr>
              <a:t>CONFIDENT ACCURACY</a:t>
            </a:r>
          </a:p>
        </p:txBody>
      </p:sp>
      <p:sp>
        <p:nvSpPr>
          <p:cNvPr id="33" name="TextBox 32"/>
          <p:cNvSpPr txBox="1"/>
          <p:nvPr/>
        </p:nvSpPr>
        <p:spPr>
          <a:xfrm>
            <a:off x="768096" y="4398264"/>
            <a:ext cx="1737360" cy="201168"/>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850" b="0" i="0">
                <a:solidFill>
                  <a:srgbClr val="6E8278"/>
                </a:solidFill>
                <a:latin typeface="Aptos"/>
              </a:rPr>
              <a:t>confidence ≥ 0.75</a:t>
            </a:r>
          </a:p>
        </p:txBody>
      </p:sp>
      <p:sp>
        <p:nvSpPr>
          <p:cNvPr id="34" name="Rounded Rectangle 33"/>
          <p:cNvSpPr/>
          <p:nvPr/>
        </p:nvSpPr>
        <p:spPr>
          <a:xfrm>
            <a:off x="2743200" y="3502152"/>
            <a:ext cx="2048256" cy="1261872"/>
          </a:xfrm>
          <a:prstGeom prst="roundRect">
            <a:avLst/>
          </a:prstGeom>
          <a:solidFill>
            <a:srgbClr val="0C2119"/>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743200" y="3502152"/>
            <a:ext cx="54864" cy="126187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944368" y="3685032"/>
            <a:ext cx="1737360" cy="43891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2500" b="1" i="0">
                <a:solidFill>
                  <a:srgbClr val="F5F8F6"/>
                </a:solidFill>
                <a:latin typeface="Aptos"/>
              </a:rPr>
              <a:t>6.5 ms</a:t>
            </a:r>
          </a:p>
        </p:txBody>
      </p:sp>
      <p:sp>
        <p:nvSpPr>
          <p:cNvPr id="37" name="TextBox 36"/>
          <p:cNvSpPr txBox="1"/>
          <p:nvPr/>
        </p:nvSpPr>
        <p:spPr>
          <a:xfrm>
            <a:off x="2944368" y="4169664"/>
            <a:ext cx="1737360" cy="16459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750" b="1" i="0" spc="80">
                <a:solidFill>
                  <a:srgbClr val="F97316"/>
                </a:solidFill>
                <a:latin typeface="Aptos"/>
              </a:rPr>
              <a:t>CPU / TILE</a:t>
            </a:r>
          </a:p>
        </p:txBody>
      </p:sp>
      <p:sp>
        <p:nvSpPr>
          <p:cNvPr id="38" name="TextBox 37"/>
          <p:cNvSpPr txBox="1"/>
          <p:nvPr/>
        </p:nvSpPr>
        <p:spPr>
          <a:xfrm>
            <a:off x="2944368" y="4398264"/>
            <a:ext cx="1737360" cy="201168"/>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850" b="0" i="0">
                <a:solidFill>
                  <a:srgbClr val="6E8278"/>
                </a:solidFill>
                <a:latin typeface="Aptos"/>
              </a:rPr>
              <a:t>ONNX Runtime mean</a:t>
            </a:r>
          </a:p>
        </p:txBody>
      </p:sp>
      <p:sp>
        <p:nvSpPr>
          <p:cNvPr id="39" name="Rounded Rectangle 38"/>
          <p:cNvSpPr/>
          <p:nvPr/>
        </p:nvSpPr>
        <p:spPr>
          <a:xfrm>
            <a:off x="566928" y="4946904"/>
            <a:ext cx="2048256" cy="1261872"/>
          </a:xfrm>
          <a:prstGeom prst="roundRect">
            <a:avLst/>
          </a:prstGeom>
          <a:solidFill>
            <a:srgbClr val="0C2119"/>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66928" y="4946904"/>
            <a:ext cx="54864" cy="1261872"/>
          </a:xfrm>
          <a:prstGeom prst="rect">
            <a:avLst/>
          </a:prstGeom>
          <a:solidFill>
            <a:srgbClr val="75E6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68096" y="5129784"/>
            <a:ext cx="1737360" cy="43891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2500" b="1" i="0">
                <a:solidFill>
                  <a:srgbClr val="F5F8F6"/>
                </a:solidFill>
                <a:latin typeface="Aptos"/>
              </a:rPr>
              <a:t>0.46 s</a:t>
            </a:r>
          </a:p>
        </p:txBody>
      </p:sp>
      <p:sp>
        <p:nvSpPr>
          <p:cNvPr id="42" name="TextBox 41"/>
          <p:cNvSpPr txBox="1"/>
          <p:nvPr/>
        </p:nvSpPr>
        <p:spPr>
          <a:xfrm>
            <a:off x="768096" y="5614416"/>
            <a:ext cx="1737360" cy="16459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750" b="1" i="0" spc="80">
                <a:solidFill>
                  <a:srgbClr val="75E6B8"/>
                </a:solidFill>
                <a:latin typeface="Aptos"/>
              </a:rPr>
              <a:t>OFFLINE SCAN</a:t>
            </a:r>
          </a:p>
        </p:txBody>
      </p:sp>
      <p:sp>
        <p:nvSpPr>
          <p:cNvPr id="43" name="TextBox 42"/>
          <p:cNvSpPr txBox="1"/>
          <p:nvPr/>
        </p:nvSpPr>
        <p:spPr>
          <a:xfrm>
            <a:off x="768096" y="5843016"/>
            <a:ext cx="1737360" cy="201168"/>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850" b="0" i="0">
                <a:solidFill>
                  <a:srgbClr val="6E8278"/>
                </a:solidFill>
                <a:latin typeface="Aptos"/>
              </a:rPr>
              <a:t>median end to end</a:t>
            </a:r>
          </a:p>
        </p:txBody>
      </p:sp>
      <p:sp>
        <p:nvSpPr>
          <p:cNvPr id="44" name="Rounded Rectangle 43"/>
          <p:cNvSpPr/>
          <p:nvPr/>
        </p:nvSpPr>
        <p:spPr>
          <a:xfrm>
            <a:off x="2743200" y="4946904"/>
            <a:ext cx="2048256" cy="1261872"/>
          </a:xfrm>
          <a:prstGeom prst="roundRect">
            <a:avLst/>
          </a:prstGeom>
          <a:solidFill>
            <a:srgbClr val="0C2119"/>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743200" y="4946904"/>
            <a:ext cx="54864" cy="1261872"/>
          </a:xfrm>
          <a:prstGeom prst="rect">
            <a:avLst/>
          </a:prstGeom>
          <a:solidFill>
            <a:srgbClr val="FF6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944368" y="5129784"/>
            <a:ext cx="1737360" cy="43891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2500" b="1" i="0">
                <a:solidFill>
                  <a:srgbClr val="F5F8F6"/>
                </a:solidFill>
                <a:latin typeface="Aptos"/>
              </a:rPr>
              <a:t>91.1%</a:t>
            </a:r>
          </a:p>
        </p:txBody>
      </p:sp>
      <p:sp>
        <p:nvSpPr>
          <p:cNvPr id="47" name="TextBox 46"/>
          <p:cNvSpPr txBox="1"/>
          <p:nvPr/>
        </p:nvSpPr>
        <p:spPr>
          <a:xfrm>
            <a:off x="2944368" y="5614416"/>
            <a:ext cx="1737360" cy="16459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750" b="1" i="0" spc="80">
                <a:solidFill>
                  <a:srgbClr val="FF6B5E"/>
                </a:solidFill>
                <a:latin typeface="Aptos"/>
              </a:rPr>
              <a:t>MOSAIC TILE ACCURACY</a:t>
            </a:r>
          </a:p>
        </p:txBody>
      </p:sp>
      <p:sp>
        <p:nvSpPr>
          <p:cNvPr id="48" name="TextBox 47"/>
          <p:cNvSpPr txBox="1"/>
          <p:nvPr/>
        </p:nvSpPr>
        <p:spPr>
          <a:xfrm>
            <a:off x="2944368" y="5843016"/>
            <a:ext cx="1737360" cy="201168"/>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850" b="0" i="0">
                <a:solidFill>
                  <a:srgbClr val="6E8278"/>
                </a:solidFill>
                <a:latin typeface="Aptos"/>
              </a:rPr>
              <a:t>labelled synthetic grid</a:t>
            </a:r>
          </a:p>
        </p:txBody>
      </p:sp>
      <p:sp>
        <p:nvSpPr>
          <p:cNvPr id="49" name="Rounded Rectangle 48"/>
          <p:cNvSpPr/>
          <p:nvPr/>
        </p:nvSpPr>
        <p:spPr>
          <a:xfrm>
            <a:off x="5084064" y="2057400"/>
            <a:ext cx="6492240" cy="4151376"/>
          </a:xfrm>
          <a:prstGeom prst="roundRect">
            <a:avLst/>
          </a:prstGeom>
          <a:solidFill>
            <a:srgbClr val="F4F7F5"/>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confusion_matrix.png"/>
          <p:cNvPicPr>
            <a:picLocks noChangeAspect="1"/>
          </p:cNvPicPr>
          <p:nvPr/>
        </p:nvPicPr>
        <p:blipFill>
          <a:blip r:embed="rId2"/>
          <a:stretch>
            <a:fillRect/>
          </a:stretch>
        </p:blipFill>
        <p:spPr>
          <a:xfrm>
            <a:off x="5285232" y="2221992"/>
            <a:ext cx="6089904" cy="3730752"/>
          </a:xfrm>
          <a:prstGeom prst="rect">
            <a:avLst/>
          </a:prstGeom>
        </p:spPr>
      </p:pic>
      <p:sp>
        <p:nvSpPr>
          <p:cNvPr id="51" name="TextBox 50"/>
          <p:cNvSpPr txBox="1"/>
          <p:nvPr/>
        </p:nvSpPr>
        <p:spPr>
          <a:xfrm>
            <a:off x="6729984" y="5934456"/>
            <a:ext cx="3182112" cy="164592"/>
          </a:xfrm>
          <a:prstGeom prst="rect">
            <a:avLst/>
          </a:prstGeom>
          <a:noFill/>
        </p:spPr>
        <p:txBody>
          <a:bodyPr wrap="square" lIns="27432" rIns="27432" tIns="27432" bIns="27432" anchor="t">
            <a:spAutoFit/>
          </a:bodyPr>
          <a:lstStyle/>
          <a:p>
            <a:pPr algn="ctr">
              <a:lnSpc>
                <a:spcPct val="105000"/>
              </a:lnSpc>
              <a:spcBef>
                <a:spcPts val="0"/>
              </a:spcBef>
              <a:spcAft>
                <a:spcPts val="0"/>
              </a:spcAft>
            </a:pPr>
            <a:r>
              <a:rPr sz="800" b="1" i="0">
                <a:solidFill>
                  <a:srgbClr val="43564D"/>
                </a:solidFill>
                <a:latin typeface="Aptos"/>
              </a:rPr>
              <a:t>EfficientNet-B0 confusion matrix • 14 classes</a:t>
            </a:r>
          </a:p>
        </p:txBody>
      </p:sp>
      <p:sp>
        <p:nvSpPr>
          <p:cNvPr id="52" name="TextBox 51"/>
          <p:cNvSpPr txBox="1"/>
          <p:nvPr/>
        </p:nvSpPr>
        <p:spPr>
          <a:xfrm>
            <a:off x="576072" y="6309360"/>
            <a:ext cx="10899648" cy="155448"/>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720" b="0" i="0">
                <a:solidFill>
                  <a:srgbClr val="6E8278"/>
                </a:solidFill>
                <a:latin typeface="Aptos"/>
              </a:rPr>
              <a:t>Sources: ml/artifacts/metrics.json, latency.md, pipeline_scan.md, baseline_comparison.md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140F"/>
        </a:solidFill>
        <a:effectLst/>
      </p:bgPr>
    </p:bg>
    <p:spTree>
      <p:nvGrpSpPr>
        <p:cNvPr id="1" name=""/>
        <p:cNvGrpSpPr/>
        <p:nvPr/>
      </p:nvGrpSpPr>
      <p:grpSpPr/>
      <p:sp>
        <p:nvSpPr>
          <p:cNvPr id="2" name="Rectangle 1"/>
          <p:cNvSpPr/>
          <p:nvPr/>
        </p:nvSpPr>
        <p:spPr>
          <a:xfrm>
            <a:off x="10168128"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552176"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36224"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320272"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704319"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149840" y="146304"/>
            <a:ext cx="2039112" cy="9144"/>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149840" y="365760"/>
            <a:ext cx="2039112" cy="9144"/>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149840" y="585216"/>
            <a:ext cx="2039112" cy="9144"/>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iamond 9"/>
          <p:cNvSpPr/>
          <p:nvPr/>
        </p:nvSpPr>
        <p:spPr>
          <a:xfrm>
            <a:off x="502920" y="310896"/>
            <a:ext cx="292608" cy="292608"/>
          </a:xfrm>
          <a:prstGeom prst="diamond">
            <a:avLst/>
          </a:prstGeom>
          <a:solidFill>
            <a:srgbClr val="132F25"/>
          </a:solidFill>
          <a:ln w="13970">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iamond 10"/>
          <p:cNvSpPr/>
          <p:nvPr/>
        </p:nvSpPr>
        <p:spPr>
          <a:xfrm>
            <a:off x="598932" y="406908"/>
            <a:ext cx="100584" cy="100584"/>
          </a:xfrm>
          <a:prstGeom prst="diamond">
            <a:avLst/>
          </a:prstGeom>
          <a:solidFill>
            <a:srgbClr val="75E6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3544" y="301752"/>
            <a:ext cx="1920240" cy="21945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000" b="1" i="0">
                <a:solidFill>
                  <a:srgbClr val="F5F8F6"/>
                </a:solidFill>
                <a:latin typeface="Aptos"/>
              </a:rPr>
              <a:t>AGRISENTINEL</a:t>
            </a:r>
          </a:p>
        </p:txBody>
      </p:sp>
      <p:sp>
        <p:nvSpPr>
          <p:cNvPr id="13" name="TextBox 12"/>
          <p:cNvSpPr txBox="1"/>
          <p:nvPr/>
        </p:nvSpPr>
        <p:spPr>
          <a:xfrm>
            <a:off x="923544" y="466344"/>
            <a:ext cx="2011680" cy="146304"/>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650" b="1" i="0" spc="90">
                <a:solidFill>
                  <a:srgbClr val="36D399"/>
                </a:solidFill>
                <a:latin typeface="Aptos"/>
              </a:rPr>
              <a:t>AUTONOMOUS FIELD HEALTH</a:t>
            </a:r>
          </a:p>
        </p:txBody>
      </p:sp>
      <p:sp>
        <p:nvSpPr>
          <p:cNvPr id="14" name="TextBox 13"/>
          <p:cNvSpPr txBox="1"/>
          <p:nvPr/>
        </p:nvSpPr>
        <p:spPr>
          <a:xfrm>
            <a:off x="11082528" y="283464"/>
            <a:ext cx="502920" cy="228600"/>
          </a:xfrm>
          <a:prstGeom prst="rect">
            <a:avLst/>
          </a:prstGeom>
          <a:noFill/>
        </p:spPr>
        <p:txBody>
          <a:bodyPr wrap="square" lIns="27432" rIns="27432" tIns="27432" bIns="27432" anchor="t">
            <a:spAutoFit/>
          </a:bodyPr>
          <a:lstStyle/>
          <a:p>
            <a:pPr algn="r">
              <a:lnSpc>
                <a:spcPct val="105000"/>
              </a:lnSpc>
              <a:spcBef>
                <a:spcPts val="0"/>
              </a:spcBef>
              <a:spcAft>
                <a:spcPts val="0"/>
              </a:spcAft>
            </a:pPr>
            <a:r>
              <a:rPr sz="900" b="1" i="0">
                <a:solidFill>
                  <a:srgbClr val="6E8278"/>
                </a:solidFill>
                <a:latin typeface="Aptos"/>
              </a:rPr>
              <a:t>09</a:t>
            </a:r>
          </a:p>
        </p:txBody>
      </p:sp>
      <p:sp>
        <p:nvSpPr>
          <p:cNvPr id="15" name="TextBox 14"/>
          <p:cNvSpPr txBox="1"/>
          <p:nvPr/>
        </p:nvSpPr>
        <p:spPr>
          <a:xfrm>
            <a:off x="9189720" y="283464"/>
            <a:ext cx="1783080" cy="228600"/>
          </a:xfrm>
          <a:prstGeom prst="rect">
            <a:avLst/>
          </a:prstGeom>
          <a:noFill/>
        </p:spPr>
        <p:txBody>
          <a:bodyPr wrap="square" lIns="27432" rIns="27432" tIns="27432" bIns="27432" anchor="t">
            <a:spAutoFit/>
          </a:bodyPr>
          <a:lstStyle/>
          <a:p>
            <a:pPr algn="r">
              <a:lnSpc>
                <a:spcPct val="105000"/>
              </a:lnSpc>
              <a:spcBef>
                <a:spcPts val="0"/>
              </a:spcBef>
              <a:spcAft>
                <a:spcPts val="0"/>
              </a:spcAft>
            </a:pPr>
            <a:r>
              <a:rPr sz="800" b="1" i="0" spc="100">
                <a:solidFill>
                  <a:srgbClr val="36D399"/>
                </a:solidFill>
                <a:latin typeface="Aptos"/>
              </a:rPr>
              <a:t>VALIDATION</a:t>
            </a:r>
          </a:p>
        </p:txBody>
      </p:sp>
      <p:sp>
        <p:nvSpPr>
          <p:cNvPr id="16" name="TextBox 15"/>
          <p:cNvSpPr txBox="1"/>
          <p:nvPr/>
        </p:nvSpPr>
        <p:spPr>
          <a:xfrm>
            <a:off x="530352" y="896112"/>
            <a:ext cx="10881360" cy="59436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2800" b="1" i="0">
                <a:solidFill>
                  <a:srgbClr val="F5F8F6"/>
                </a:solidFill>
                <a:latin typeface="Aptos"/>
              </a:rPr>
              <a:t>The lab-to-field gap is real — so we expose it</a:t>
            </a:r>
          </a:p>
        </p:txBody>
      </p:sp>
      <p:sp>
        <p:nvSpPr>
          <p:cNvPr id="17" name="TextBox 16"/>
          <p:cNvSpPr txBox="1"/>
          <p:nvPr/>
        </p:nvSpPr>
        <p:spPr>
          <a:xfrm>
            <a:off x="548640" y="1481328"/>
            <a:ext cx="10515600" cy="384048"/>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350" b="0" i="0">
                <a:solidFill>
                  <a:srgbClr val="A7B9B0"/>
                </a:solidFill>
                <a:latin typeface="Aptos"/>
              </a:rPr>
              <a:t>Image degradation alone costs 9.0 accuracy points and more than doubles the escalation load.</a:t>
            </a:r>
          </a:p>
        </p:txBody>
      </p:sp>
      <p:sp>
        <p:nvSpPr>
          <p:cNvPr id="18" name="TextBox 17"/>
          <p:cNvSpPr txBox="1"/>
          <p:nvPr/>
        </p:nvSpPr>
        <p:spPr>
          <a:xfrm>
            <a:off x="530352" y="6547104"/>
            <a:ext cx="6217920" cy="16459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750" b="1" i="0" spc="70">
                <a:solidFill>
                  <a:srgbClr val="6E8278"/>
                </a:solidFill>
                <a:latin typeface="Aptos"/>
              </a:rPr>
              <a:t>AAROH AI/ML HACKATHON  •  VISHAL + KHUSHI</a:t>
            </a:r>
          </a:p>
        </p:txBody>
      </p:sp>
      <p:sp>
        <p:nvSpPr>
          <p:cNvPr id="19" name="Rounded Rectangle 18"/>
          <p:cNvSpPr/>
          <p:nvPr/>
        </p:nvSpPr>
        <p:spPr>
          <a:xfrm>
            <a:off x="676656" y="2231136"/>
            <a:ext cx="6446520" cy="3310128"/>
          </a:xfrm>
          <a:prstGeom prst="roundRect">
            <a:avLst/>
          </a:prstGeom>
          <a:solidFill>
            <a:srgbClr val="0C2119"/>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2779776"/>
            <a:ext cx="1234440" cy="237744"/>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050" b="1" i="0">
                <a:solidFill>
                  <a:srgbClr val="A7B9B0"/>
                </a:solidFill>
                <a:latin typeface="Aptos"/>
              </a:rPr>
              <a:t>Clean test</a:t>
            </a:r>
          </a:p>
        </p:txBody>
      </p:sp>
      <p:sp>
        <p:nvSpPr>
          <p:cNvPr id="21" name="Rounded Rectangle 20"/>
          <p:cNvSpPr/>
          <p:nvPr/>
        </p:nvSpPr>
        <p:spPr>
          <a:xfrm>
            <a:off x="2249424" y="2798064"/>
            <a:ext cx="4050791" cy="292608"/>
          </a:xfrm>
          <a:prstGeom prst="roundRect">
            <a:avLst/>
          </a:prstGeom>
          <a:solidFill>
            <a:srgbClr val="122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249424" y="2798064"/>
            <a:ext cx="3872557" cy="292608"/>
          </a:xfrm>
          <a:prstGeom prst="roundRect">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36792" y="2761488"/>
            <a:ext cx="502920" cy="265176"/>
          </a:xfrm>
          <a:prstGeom prst="rect">
            <a:avLst/>
          </a:prstGeom>
          <a:noFill/>
        </p:spPr>
        <p:txBody>
          <a:bodyPr wrap="square" lIns="27432" rIns="27432" tIns="27432" bIns="27432" anchor="t">
            <a:spAutoFit/>
          </a:bodyPr>
          <a:lstStyle/>
          <a:p>
            <a:pPr algn="r">
              <a:lnSpc>
                <a:spcPct val="105000"/>
              </a:lnSpc>
              <a:spcBef>
                <a:spcPts val="0"/>
              </a:spcBef>
              <a:spcAft>
                <a:spcPts val="0"/>
              </a:spcAft>
            </a:pPr>
            <a:r>
              <a:rPr sz="1100" b="1" i="0">
                <a:solidFill>
                  <a:srgbClr val="F5F8F6"/>
                </a:solidFill>
                <a:latin typeface="Aptos"/>
              </a:rPr>
              <a:t>95.6%</a:t>
            </a:r>
          </a:p>
        </p:txBody>
      </p:sp>
      <p:sp>
        <p:nvSpPr>
          <p:cNvPr id="24" name="TextBox 23"/>
          <p:cNvSpPr txBox="1"/>
          <p:nvPr/>
        </p:nvSpPr>
        <p:spPr>
          <a:xfrm>
            <a:off x="950976" y="3602736"/>
            <a:ext cx="1234440" cy="237744"/>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050" b="1" i="0">
                <a:solidFill>
                  <a:srgbClr val="A7B9B0"/>
                </a:solidFill>
                <a:latin typeface="Aptos"/>
              </a:rPr>
              <a:t>Mild simulation</a:t>
            </a:r>
          </a:p>
        </p:txBody>
      </p:sp>
      <p:sp>
        <p:nvSpPr>
          <p:cNvPr id="25" name="Rounded Rectangle 24"/>
          <p:cNvSpPr/>
          <p:nvPr/>
        </p:nvSpPr>
        <p:spPr>
          <a:xfrm>
            <a:off x="2249424" y="3621024"/>
            <a:ext cx="4050791" cy="292608"/>
          </a:xfrm>
          <a:prstGeom prst="roundRect">
            <a:avLst/>
          </a:prstGeom>
          <a:solidFill>
            <a:srgbClr val="122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249424" y="3621024"/>
            <a:ext cx="3759134" cy="292608"/>
          </a:xfrm>
          <a:prstGeom prst="roundRect">
            <a:avLst/>
          </a:prstGeom>
          <a:solidFill>
            <a:srgbClr val="5DD6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36792" y="3584448"/>
            <a:ext cx="502920" cy="265176"/>
          </a:xfrm>
          <a:prstGeom prst="rect">
            <a:avLst/>
          </a:prstGeom>
          <a:noFill/>
        </p:spPr>
        <p:txBody>
          <a:bodyPr wrap="square" lIns="27432" rIns="27432" tIns="27432" bIns="27432" anchor="t">
            <a:spAutoFit/>
          </a:bodyPr>
          <a:lstStyle/>
          <a:p>
            <a:pPr algn="r">
              <a:lnSpc>
                <a:spcPct val="105000"/>
              </a:lnSpc>
              <a:spcBef>
                <a:spcPts val="0"/>
              </a:spcBef>
              <a:spcAft>
                <a:spcPts val="0"/>
              </a:spcAft>
            </a:pPr>
            <a:r>
              <a:rPr sz="1100" b="1" i="0">
                <a:solidFill>
                  <a:srgbClr val="F5F8F6"/>
                </a:solidFill>
                <a:latin typeface="Aptos"/>
              </a:rPr>
              <a:t>92.8%</a:t>
            </a:r>
          </a:p>
        </p:txBody>
      </p:sp>
      <p:sp>
        <p:nvSpPr>
          <p:cNvPr id="28" name="TextBox 27"/>
          <p:cNvSpPr txBox="1"/>
          <p:nvPr/>
        </p:nvSpPr>
        <p:spPr>
          <a:xfrm>
            <a:off x="950976" y="4425696"/>
            <a:ext cx="1234440" cy="237744"/>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050" b="1" i="0">
                <a:solidFill>
                  <a:srgbClr val="A7B9B0"/>
                </a:solidFill>
                <a:latin typeface="Aptos"/>
              </a:rPr>
              <a:t>Field simulation</a:t>
            </a:r>
          </a:p>
        </p:txBody>
      </p:sp>
      <p:sp>
        <p:nvSpPr>
          <p:cNvPr id="29" name="Rounded Rectangle 28"/>
          <p:cNvSpPr/>
          <p:nvPr/>
        </p:nvSpPr>
        <p:spPr>
          <a:xfrm>
            <a:off x="2249424" y="4443984"/>
            <a:ext cx="4050791" cy="292608"/>
          </a:xfrm>
          <a:prstGeom prst="roundRect">
            <a:avLst/>
          </a:prstGeom>
          <a:solidFill>
            <a:srgbClr val="122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249424" y="4443984"/>
            <a:ext cx="3507985" cy="292608"/>
          </a:xfrm>
          <a:prstGeom prst="round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36792" y="4407408"/>
            <a:ext cx="502920" cy="265176"/>
          </a:xfrm>
          <a:prstGeom prst="rect">
            <a:avLst/>
          </a:prstGeom>
          <a:noFill/>
        </p:spPr>
        <p:txBody>
          <a:bodyPr wrap="square" lIns="27432" rIns="27432" tIns="27432" bIns="27432" anchor="t">
            <a:spAutoFit/>
          </a:bodyPr>
          <a:lstStyle/>
          <a:p>
            <a:pPr algn="r">
              <a:lnSpc>
                <a:spcPct val="105000"/>
              </a:lnSpc>
              <a:spcBef>
                <a:spcPts val="0"/>
              </a:spcBef>
              <a:spcAft>
                <a:spcPts val="0"/>
              </a:spcAft>
            </a:pPr>
            <a:r>
              <a:rPr sz="1100" b="1" i="0">
                <a:solidFill>
                  <a:srgbClr val="F5F8F6"/>
                </a:solidFill>
                <a:latin typeface="Aptos"/>
              </a:rPr>
              <a:t>86.6%</a:t>
            </a:r>
          </a:p>
        </p:txBody>
      </p:sp>
      <p:sp>
        <p:nvSpPr>
          <p:cNvPr id="32" name="Rectangle 31"/>
          <p:cNvSpPr/>
          <p:nvPr/>
        </p:nvSpPr>
        <p:spPr>
          <a:xfrm>
            <a:off x="2249424" y="5230368"/>
            <a:ext cx="4050791" cy="18288"/>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267712" y="5303520"/>
            <a:ext cx="4297680" cy="18288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800" b="0" i="0">
                <a:solidFill>
                  <a:srgbClr val="6E8278"/>
                </a:solidFill>
                <a:latin typeface="Aptos"/>
              </a:rPr>
              <a:t>Accuracy under progressively harder image conditions</a:t>
            </a:r>
          </a:p>
        </p:txBody>
      </p:sp>
      <p:sp>
        <p:nvSpPr>
          <p:cNvPr id="34" name="Rounded Rectangle 33"/>
          <p:cNvSpPr/>
          <p:nvPr/>
        </p:nvSpPr>
        <p:spPr>
          <a:xfrm>
            <a:off x="7370064" y="2231136"/>
            <a:ext cx="4206240" cy="1508760"/>
          </a:xfrm>
          <a:prstGeom prst="roundRect">
            <a:avLst/>
          </a:prstGeom>
          <a:solidFill>
            <a:srgbClr val="0C2119"/>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44383" y="2542032"/>
            <a:ext cx="3520440" cy="36576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2400" b="1" i="0">
                <a:solidFill>
                  <a:srgbClr val="F4C84A"/>
                </a:solidFill>
                <a:latin typeface="Aptos"/>
              </a:rPr>
              <a:t>15.8%  →  35.9%</a:t>
            </a:r>
          </a:p>
        </p:txBody>
      </p:sp>
      <p:sp>
        <p:nvSpPr>
          <p:cNvPr id="36" name="TextBox 35"/>
          <p:cNvSpPr txBox="1"/>
          <p:nvPr/>
        </p:nvSpPr>
        <p:spPr>
          <a:xfrm>
            <a:off x="7662672" y="3017520"/>
            <a:ext cx="3319272" cy="237744"/>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050" b="0" i="0">
                <a:solidFill>
                  <a:srgbClr val="A7B9B0"/>
                </a:solidFill>
                <a:latin typeface="Aptos"/>
              </a:rPr>
              <a:t>tiles escalated below 0.75 confidence</a:t>
            </a:r>
          </a:p>
        </p:txBody>
      </p:sp>
      <p:sp>
        <p:nvSpPr>
          <p:cNvPr id="37" name="Rounded Rectangle 36"/>
          <p:cNvSpPr/>
          <p:nvPr/>
        </p:nvSpPr>
        <p:spPr>
          <a:xfrm>
            <a:off x="7370064" y="3968496"/>
            <a:ext cx="4206240" cy="1572768"/>
          </a:xfrm>
          <a:prstGeom prst="roundRect">
            <a:avLst/>
          </a:prstGeom>
          <a:solidFill>
            <a:srgbClr val="282511"/>
          </a:solidFill>
          <a:ln w="10160">
            <a:solidFill>
              <a:srgbClr val="F4C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44383" y="4224528"/>
            <a:ext cx="2011680" cy="21945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900" b="1" i="0" spc="120">
                <a:solidFill>
                  <a:srgbClr val="F4C84A"/>
                </a:solidFill>
                <a:latin typeface="Aptos"/>
              </a:rPr>
              <a:t>EVIDENCE BOUNDARY</a:t>
            </a:r>
          </a:p>
        </p:txBody>
      </p:sp>
      <p:sp>
        <p:nvSpPr>
          <p:cNvPr id="39" name="TextBox 38"/>
          <p:cNvSpPr txBox="1"/>
          <p:nvPr/>
        </p:nvSpPr>
        <p:spPr>
          <a:xfrm>
            <a:off x="7644383" y="4590288"/>
            <a:ext cx="3419856" cy="32004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400" b="1" i="0">
                <a:solidFill>
                  <a:srgbClr val="F5F8F6"/>
                </a:solidFill>
                <a:latin typeface="Aptos"/>
              </a:rPr>
              <a:t>Original real-field benchmark: not collected yet</a:t>
            </a:r>
          </a:p>
        </p:txBody>
      </p:sp>
      <p:sp>
        <p:nvSpPr>
          <p:cNvPr id="40" name="TextBox 39"/>
          <p:cNvSpPr txBox="1"/>
          <p:nvPr/>
        </p:nvSpPr>
        <p:spPr>
          <a:xfrm>
            <a:off x="7644383" y="5001768"/>
            <a:ext cx="3456432" cy="39319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950" b="0" i="0">
                <a:solidFill>
                  <a:srgbClr val="A7B9B0"/>
                </a:solidFill>
                <a:latin typeface="Aptos"/>
              </a:rPr>
              <a:t>Next: 30–50 untouched phone photos with provenance, then report the measured gap even if it is large.</a:t>
            </a:r>
          </a:p>
        </p:txBody>
      </p:sp>
      <p:sp>
        <p:nvSpPr>
          <p:cNvPr id="41" name="TextBox 40"/>
          <p:cNvSpPr txBox="1"/>
          <p:nvPr/>
        </p:nvSpPr>
        <p:spPr>
          <a:xfrm>
            <a:off x="676656" y="5824728"/>
            <a:ext cx="10844784" cy="201168"/>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740" b="0" i="0">
                <a:solidFill>
                  <a:srgbClr val="6E8278"/>
                </a:solidFill>
                <a:latin typeface="Aptos"/>
              </a:rPr>
              <a:t>Source: ml/artifacts/lab_vs_field.json • simulated “field” changes quality, not scene composition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7140F"/>
        </a:solidFill>
        <a:effectLst/>
      </p:bgPr>
    </p:bg>
    <p:spTree>
      <p:nvGrpSpPr>
        <p:cNvPr id="1" name=""/>
        <p:cNvGrpSpPr/>
        <p:nvPr/>
      </p:nvGrpSpPr>
      <p:grpSpPr/>
      <p:sp>
        <p:nvSpPr>
          <p:cNvPr id="2" name="Rectangle 1"/>
          <p:cNvSpPr/>
          <p:nvPr/>
        </p:nvSpPr>
        <p:spPr>
          <a:xfrm>
            <a:off x="10168128"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552176"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36224"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320272"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704319"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149840" y="146304"/>
            <a:ext cx="2039112" cy="9144"/>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149840" y="365760"/>
            <a:ext cx="2039112" cy="9144"/>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149840" y="585216"/>
            <a:ext cx="2039112" cy="9144"/>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iamond 9"/>
          <p:cNvSpPr/>
          <p:nvPr/>
        </p:nvSpPr>
        <p:spPr>
          <a:xfrm>
            <a:off x="502920" y="310896"/>
            <a:ext cx="292608" cy="292608"/>
          </a:xfrm>
          <a:prstGeom prst="diamond">
            <a:avLst/>
          </a:prstGeom>
          <a:solidFill>
            <a:srgbClr val="132F25"/>
          </a:solidFill>
          <a:ln w="13970">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iamond 10"/>
          <p:cNvSpPr/>
          <p:nvPr/>
        </p:nvSpPr>
        <p:spPr>
          <a:xfrm>
            <a:off x="598932" y="406908"/>
            <a:ext cx="100584" cy="100584"/>
          </a:xfrm>
          <a:prstGeom prst="diamond">
            <a:avLst/>
          </a:prstGeom>
          <a:solidFill>
            <a:srgbClr val="75E6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3544" y="301752"/>
            <a:ext cx="1920240" cy="21945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000" b="1" i="0">
                <a:solidFill>
                  <a:srgbClr val="F5F8F6"/>
                </a:solidFill>
                <a:latin typeface="Aptos"/>
              </a:rPr>
              <a:t>AGRISENTINEL</a:t>
            </a:r>
          </a:p>
        </p:txBody>
      </p:sp>
      <p:sp>
        <p:nvSpPr>
          <p:cNvPr id="13" name="TextBox 12"/>
          <p:cNvSpPr txBox="1"/>
          <p:nvPr/>
        </p:nvSpPr>
        <p:spPr>
          <a:xfrm>
            <a:off x="923544" y="466344"/>
            <a:ext cx="2011680" cy="146304"/>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650" b="1" i="0" spc="90">
                <a:solidFill>
                  <a:srgbClr val="36D399"/>
                </a:solidFill>
                <a:latin typeface="Aptos"/>
              </a:rPr>
              <a:t>AUTONOMOUS FIELD HEALTH</a:t>
            </a:r>
          </a:p>
        </p:txBody>
      </p:sp>
      <p:sp>
        <p:nvSpPr>
          <p:cNvPr id="14" name="TextBox 13"/>
          <p:cNvSpPr txBox="1"/>
          <p:nvPr/>
        </p:nvSpPr>
        <p:spPr>
          <a:xfrm>
            <a:off x="11082528" y="283464"/>
            <a:ext cx="502920" cy="228600"/>
          </a:xfrm>
          <a:prstGeom prst="rect">
            <a:avLst/>
          </a:prstGeom>
          <a:noFill/>
        </p:spPr>
        <p:txBody>
          <a:bodyPr wrap="square" lIns="27432" rIns="27432" tIns="27432" bIns="27432" anchor="t">
            <a:spAutoFit/>
          </a:bodyPr>
          <a:lstStyle/>
          <a:p>
            <a:pPr algn="r">
              <a:lnSpc>
                <a:spcPct val="105000"/>
              </a:lnSpc>
              <a:spcBef>
                <a:spcPts val="0"/>
              </a:spcBef>
              <a:spcAft>
                <a:spcPts val="0"/>
              </a:spcAft>
            </a:pPr>
            <a:r>
              <a:rPr sz="900" b="1" i="0">
                <a:solidFill>
                  <a:srgbClr val="6E8278"/>
                </a:solidFill>
                <a:latin typeface="Aptos"/>
              </a:rPr>
              <a:t>10</a:t>
            </a:r>
          </a:p>
        </p:txBody>
      </p:sp>
      <p:sp>
        <p:nvSpPr>
          <p:cNvPr id="15" name="TextBox 14"/>
          <p:cNvSpPr txBox="1"/>
          <p:nvPr/>
        </p:nvSpPr>
        <p:spPr>
          <a:xfrm>
            <a:off x="9189720" y="283464"/>
            <a:ext cx="1783080" cy="228600"/>
          </a:xfrm>
          <a:prstGeom prst="rect">
            <a:avLst/>
          </a:prstGeom>
          <a:noFill/>
        </p:spPr>
        <p:txBody>
          <a:bodyPr wrap="square" lIns="27432" rIns="27432" tIns="27432" bIns="27432" anchor="t">
            <a:spAutoFit/>
          </a:bodyPr>
          <a:lstStyle/>
          <a:p>
            <a:pPr algn="r">
              <a:lnSpc>
                <a:spcPct val="105000"/>
              </a:lnSpc>
              <a:spcBef>
                <a:spcPts val="0"/>
              </a:spcBef>
              <a:spcAft>
                <a:spcPts val="0"/>
              </a:spcAft>
            </a:pPr>
            <a:r>
              <a:rPr sz="800" b="1" i="0" spc="100">
                <a:solidFill>
                  <a:srgbClr val="36D399"/>
                </a:solidFill>
                <a:latin typeface="Aptos"/>
              </a:rPr>
              <a:t>SAFETY</a:t>
            </a:r>
          </a:p>
        </p:txBody>
      </p:sp>
      <p:sp>
        <p:nvSpPr>
          <p:cNvPr id="16" name="TextBox 15"/>
          <p:cNvSpPr txBox="1"/>
          <p:nvPr/>
        </p:nvSpPr>
        <p:spPr>
          <a:xfrm>
            <a:off x="530352" y="896112"/>
            <a:ext cx="10881360" cy="59436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2800" b="1" i="0">
                <a:solidFill>
                  <a:srgbClr val="F5F8F6"/>
                </a:solidFill>
                <a:latin typeface="Aptos"/>
              </a:rPr>
              <a:t>Refusal is a successful product outcome</a:t>
            </a:r>
          </a:p>
        </p:txBody>
      </p:sp>
      <p:sp>
        <p:nvSpPr>
          <p:cNvPr id="17" name="TextBox 16"/>
          <p:cNvSpPr txBox="1"/>
          <p:nvPr/>
        </p:nvSpPr>
        <p:spPr>
          <a:xfrm>
            <a:off x="548640" y="1481328"/>
            <a:ext cx="10515600" cy="384048"/>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350" b="0" i="0">
                <a:solidFill>
                  <a:srgbClr val="A7B9B0"/>
                </a:solidFill>
                <a:latin typeface="Aptos"/>
              </a:rPr>
              <a:t>The Verifier can revise or stop treatment advice while still returning the field evidence and diagnosis context.</a:t>
            </a:r>
          </a:p>
        </p:txBody>
      </p:sp>
      <p:sp>
        <p:nvSpPr>
          <p:cNvPr id="18" name="TextBox 17"/>
          <p:cNvSpPr txBox="1"/>
          <p:nvPr/>
        </p:nvSpPr>
        <p:spPr>
          <a:xfrm>
            <a:off x="530352" y="6547104"/>
            <a:ext cx="6217920" cy="16459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750" b="1" i="0" spc="70">
                <a:solidFill>
                  <a:srgbClr val="6E8278"/>
                </a:solidFill>
                <a:latin typeface="Aptos"/>
              </a:rPr>
              <a:t>AAROH AI/ML HACKATHON  •  VISHAL + KHUSHI</a:t>
            </a:r>
          </a:p>
        </p:txBody>
      </p:sp>
      <p:sp>
        <p:nvSpPr>
          <p:cNvPr id="19" name="Rounded Rectangle 18"/>
          <p:cNvSpPr/>
          <p:nvPr/>
        </p:nvSpPr>
        <p:spPr>
          <a:xfrm>
            <a:off x="621792" y="2267712"/>
            <a:ext cx="2331720" cy="1371600"/>
          </a:xfrm>
          <a:prstGeom prst="roundRect">
            <a:avLst/>
          </a:prstGeom>
          <a:solidFill>
            <a:srgbClr val="0C2119"/>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 y="2267712"/>
            <a:ext cx="54864" cy="1371600"/>
          </a:xfrm>
          <a:prstGeom prst="rect">
            <a:avLst/>
          </a:prstGeom>
          <a:solidFill>
            <a:srgbClr val="5DD6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 y="2414016"/>
            <a:ext cx="2039112" cy="292608"/>
          </a:xfrm>
          <a:prstGeom prst="rect">
            <a:avLst/>
          </a:prstGeom>
          <a:noFill/>
        </p:spPr>
        <p:txBody>
          <a:bodyPr wrap="square" lIns="27432" rIns="27432" tIns="27432" bIns="27432" anchor="ctr">
            <a:spAutoFit/>
          </a:bodyPr>
          <a:lstStyle/>
          <a:p>
            <a:pPr algn="l">
              <a:lnSpc>
                <a:spcPct val="105000"/>
              </a:lnSpc>
              <a:spcBef>
                <a:spcPts val="0"/>
              </a:spcBef>
              <a:spcAft>
                <a:spcPts val="0"/>
              </a:spcAft>
            </a:pPr>
            <a:r>
              <a:rPr sz="1400" b="1" i="0">
                <a:solidFill>
                  <a:srgbClr val="F5F8F6"/>
                </a:solidFill>
                <a:latin typeface="Aptos"/>
              </a:rPr>
              <a:t>RAG treatment draft</a:t>
            </a:r>
          </a:p>
        </p:txBody>
      </p:sp>
      <p:sp>
        <p:nvSpPr>
          <p:cNvPr id="22" name="TextBox 21"/>
          <p:cNvSpPr txBox="1"/>
          <p:nvPr/>
        </p:nvSpPr>
        <p:spPr>
          <a:xfrm>
            <a:off x="804672" y="2752344"/>
            <a:ext cx="2039112" cy="76809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950" b="0" i="0">
                <a:solidFill>
                  <a:srgbClr val="A7B9B0"/>
                </a:solidFill>
                <a:latin typeface="Aptos"/>
              </a:rPr>
              <a:t>Every sentence carries a retrieved source marker</a:t>
            </a:r>
          </a:p>
        </p:txBody>
      </p:sp>
      <p:sp>
        <p:nvSpPr>
          <p:cNvPr id="23" name="Chevron 22"/>
          <p:cNvSpPr/>
          <p:nvPr/>
        </p:nvSpPr>
        <p:spPr>
          <a:xfrm>
            <a:off x="3118104" y="2770632"/>
            <a:ext cx="320040" cy="310896"/>
          </a:xfrm>
          <a:prstGeom prst="chevron">
            <a:avLst/>
          </a:prstGeom>
          <a:solidFill>
            <a:srgbClr val="5DD6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593592" y="2267712"/>
            <a:ext cx="2157984" cy="1371600"/>
          </a:xfrm>
          <a:prstGeom prst="roundRect">
            <a:avLst/>
          </a:prstGeom>
          <a:solidFill>
            <a:srgbClr val="282511"/>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593592" y="2267712"/>
            <a:ext cx="54864" cy="1371600"/>
          </a:xfrm>
          <a:prstGeom prst="rect">
            <a:avLst/>
          </a:prstGeom>
          <a:solidFill>
            <a:srgbClr val="F4C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76472" y="2414016"/>
            <a:ext cx="1865376" cy="292608"/>
          </a:xfrm>
          <a:prstGeom prst="rect">
            <a:avLst/>
          </a:prstGeom>
          <a:noFill/>
        </p:spPr>
        <p:txBody>
          <a:bodyPr wrap="square" lIns="27432" rIns="27432" tIns="27432" bIns="27432" anchor="ctr">
            <a:spAutoFit/>
          </a:bodyPr>
          <a:lstStyle/>
          <a:p>
            <a:pPr algn="l">
              <a:lnSpc>
                <a:spcPct val="105000"/>
              </a:lnSpc>
              <a:spcBef>
                <a:spcPts val="0"/>
              </a:spcBef>
              <a:spcAft>
                <a:spcPts val="0"/>
              </a:spcAft>
            </a:pPr>
            <a:r>
              <a:rPr sz="1400" b="1" i="0">
                <a:solidFill>
                  <a:srgbClr val="F5F8F6"/>
                </a:solidFill>
                <a:latin typeface="Aptos"/>
              </a:rPr>
              <a:t>Verifier</a:t>
            </a:r>
          </a:p>
        </p:txBody>
      </p:sp>
      <p:sp>
        <p:nvSpPr>
          <p:cNvPr id="27" name="TextBox 26"/>
          <p:cNvSpPr txBox="1"/>
          <p:nvPr/>
        </p:nvSpPr>
        <p:spPr>
          <a:xfrm>
            <a:off x="3776472" y="2752344"/>
            <a:ext cx="1865376" cy="76809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950" b="0" i="0">
                <a:solidFill>
                  <a:srgbClr val="A7B9B0"/>
                </a:solidFill>
                <a:latin typeface="Aptos"/>
              </a:rPr>
              <a:t>Grounding • allowlist • dosage sanity</a:t>
            </a:r>
          </a:p>
        </p:txBody>
      </p:sp>
      <p:sp>
        <p:nvSpPr>
          <p:cNvPr id="28" name="Chevron 27"/>
          <p:cNvSpPr/>
          <p:nvPr/>
        </p:nvSpPr>
        <p:spPr>
          <a:xfrm>
            <a:off x="5907024" y="2304288"/>
            <a:ext cx="246888" cy="265176"/>
          </a:xfrm>
          <a:prstGeom prst="chevron">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291072" y="1993392"/>
            <a:ext cx="1874519" cy="822960"/>
          </a:xfrm>
          <a:prstGeom prst="roundRect">
            <a:avLst/>
          </a:prstGeom>
          <a:solidFill>
            <a:srgbClr val="0C2119"/>
          </a:solidFill>
          <a:ln w="10160">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55664" y="2139696"/>
            <a:ext cx="758952" cy="22860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100" b="1" i="0">
                <a:solidFill>
                  <a:srgbClr val="36D399"/>
                </a:solidFill>
                <a:latin typeface="Aptos"/>
              </a:rPr>
              <a:t>PASS</a:t>
            </a:r>
          </a:p>
        </p:txBody>
      </p:sp>
      <p:sp>
        <p:nvSpPr>
          <p:cNvPr id="31" name="TextBox 30"/>
          <p:cNvSpPr txBox="1"/>
          <p:nvPr/>
        </p:nvSpPr>
        <p:spPr>
          <a:xfrm>
            <a:off x="6455664" y="2441448"/>
            <a:ext cx="1508760" cy="18288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850" b="0" i="0">
                <a:solidFill>
                  <a:srgbClr val="A7B9B0"/>
                </a:solidFill>
                <a:latin typeface="Aptos"/>
              </a:rPr>
              <a:t>Show plan</a:t>
            </a:r>
          </a:p>
        </p:txBody>
      </p:sp>
      <p:sp>
        <p:nvSpPr>
          <p:cNvPr id="32" name="Chevron 31"/>
          <p:cNvSpPr/>
          <p:nvPr/>
        </p:nvSpPr>
        <p:spPr>
          <a:xfrm>
            <a:off x="5907024" y="3374136"/>
            <a:ext cx="246888" cy="265176"/>
          </a:xfrm>
          <a:prstGeom prst="chevron">
            <a:avLst/>
          </a:prstGeom>
          <a:solidFill>
            <a:srgbClr val="F4C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291072" y="3063240"/>
            <a:ext cx="1874519" cy="822960"/>
          </a:xfrm>
          <a:prstGeom prst="roundRect">
            <a:avLst/>
          </a:prstGeom>
          <a:solidFill>
            <a:srgbClr val="0C2119"/>
          </a:solidFill>
          <a:ln w="10160">
            <a:solidFill>
              <a:srgbClr val="F4C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55664" y="3209544"/>
            <a:ext cx="758952" cy="22860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100" b="1" i="0">
                <a:solidFill>
                  <a:srgbClr val="F4C84A"/>
                </a:solidFill>
                <a:latin typeface="Aptos"/>
              </a:rPr>
              <a:t>REWRITE</a:t>
            </a:r>
          </a:p>
        </p:txBody>
      </p:sp>
      <p:sp>
        <p:nvSpPr>
          <p:cNvPr id="35" name="TextBox 34"/>
          <p:cNvSpPr txBox="1"/>
          <p:nvPr/>
        </p:nvSpPr>
        <p:spPr>
          <a:xfrm>
            <a:off x="6455664" y="3511296"/>
            <a:ext cx="1508760" cy="18288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850" b="0" i="0">
                <a:solidFill>
                  <a:srgbClr val="A7B9B0"/>
                </a:solidFill>
                <a:latin typeface="Aptos"/>
              </a:rPr>
              <a:t>Regenerate / strip</a:t>
            </a:r>
          </a:p>
        </p:txBody>
      </p:sp>
      <p:sp>
        <p:nvSpPr>
          <p:cNvPr id="36" name="Chevron 35"/>
          <p:cNvSpPr/>
          <p:nvPr/>
        </p:nvSpPr>
        <p:spPr>
          <a:xfrm>
            <a:off x="5907024" y="4443983"/>
            <a:ext cx="246888" cy="265176"/>
          </a:xfrm>
          <a:prstGeom prst="chevron">
            <a:avLst/>
          </a:prstGeom>
          <a:solidFill>
            <a:srgbClr val="FF6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291072" y="4133087"/>
            <a:ext cx="1874519" cy="822960"/>
          </a:xfrm>
          <a:prstGeom prst="roundRect">
            <a:avLst/>
          </a:prstGeom>
          <a:solidFill>
            <a:srgbClr val="0C2119"/>
          </a:solidFill>
          <a:ln w="10160">
            <a:solidFill>
              <a:srgbClr val="FF6B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55664" y="4279392"/>
            <a:ext cx="758952" cy="22860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100" b="1" i="0">
                <a:solidFill>
                  <a:srgbClr val="FF6B5E"/>
                </a:solidFill>
                <a:latin typeface="Aptos"/>
              </a:rPr>
              <a:t>BLOCK</a:t>
            </a:r>
          </a:p>
        </p:txBody>
      </p:sp>
      <p:sp>
        <p:nvSpPr>
          <p:cNvPr id="39" name="TextBox 38"/>
          <p:cNvSpPr txBox="1"/>
          <p:nvPr/>
        </p:nvSpPr>
        <p:spPr>
          <a:xfrm>
            <a:off x="6455664" y="4581144"/>
            <a:ext cx="1508760" cy="18288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850" b="0" i="0">
                <a:solidFill>
                  <a:srgbClr val="A7B9B0"/>
                </a:solidFill>
                <a:latin typeface="Aptos"/>
              </a:rPr>
              <a:t>Withhold treatment</a:t>
            </a:r>
          </a:p>
        </p:txBody>
      </p:sp>
      <p:sp>
        <p:nvSpPr>
          <p:cNvPr id="40" name="Rounded Rectangle 39"/>
          <p:cNvSpPr/>
          <p:nvPr/>
        </p:nvSpPr>
        <p:spPr>
          <a:xfrm>
            <a:off x="8531352" y="1993392"/>
            <a:ext cx="3063240" cy="2962656"/>
          </a:xfrm>
          <a:prstGeom prst="roundRect">
            <a:avLst/>
          </a:prstGeom>
          <a:solidFill>
            <a:srgbClr val="0C2119"/>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778240" y="2258568"/>
            <a:ext cx="1737360" cy="21945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900" b="1" i="0" spc="120">
                <a:solidFill>
                  <a:srgbClr val="FF6B5E"/>
                </a:solidFill>
                <a:latin typeface="Aptos"/>
              </a:rPr>
              <a:t>ADVERSARIAL TEST</a:t>
            </a:r>
          </a:p>
        </p:txBody>
      </p:sp>
      <p:sp>
        <p:nvSpPr>
          <p:cNvPr id="42" name="TextBox 41"/>
          <p:cNvSpPr txBox="1"/>
          <p:nvPr/>
        </p:nvSpPr>
        <p:spPr>
          <a:xfrm>
            <a:off x="8778240" y="2642616"/>
            <a:ext cx="786384" cy="475488"/>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3000" b="1" i="0">
                <a:solidFill>
                  <a:srgbClr val="F5F8F6"/>
                </a:solidFill>
                <a:latin typeface="Aptos"/>
              </a:rPr>
              <a:t>10</a:t>
            </a:r>
          </a:p>
        </p:txBody>
      </p:sp>
      <p:sp>
        <p:nvSpPr>
          <p:cNvPr id="43" name="TextBox 42"/>
          <p:cNvSpPr txBox="1"/>
          <p:nvPr/>
        </p:nvSpPr>
        <p:spPr>
          <a:xfrm>
            <a:off x="9482328" y="2798064"/>
            <a:ext cx="1371600" cy="21945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000" b="0" i="0">
                <a:solidFill>
                  <a:srgbClr val="A7B9B0"/>
                </a:solidFill>
                <a:latin typeface="Aptos"/>
              </a:rPr>
              <a:t>crafted attacks</a:t>
            </a:r>
          </a:p>
        </p:txBody>
      </p:sp>
      <p:sp>
        <p:nvSpPr>
          <p:cNvPr id="44" name="Rectangle 43"/>
          <p:cNvSpPr/>
          <p:nvPr/>
        </p:nvSpPr>
        <p:spPr>
          <a:xfrm>
            <a:off x="8778240" y="3310128"/>
            <a:ext cx="2395728" cy="18288"/>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778240" y="3529584"/>
            <a:ext cx="1152144" cy="283464"/>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700" b="1" i="0">
                <a:solidFill>
                  <a:srgbClr val="F4C84A"/>
                </a:solidFill>
                <a:latin typeface="Aptos"/>
              </a:rPr>
              <a:t>2 landed</a:t>
            </a:r>
          </a:p>
        </p:txBody>
      </p:sp>
      <p:sp>
        <p:nvSpPr>
          <p:cNvPr id="46" name="TextBox 45"/>
          <p:cNvSpPr txBox="1"/>
          <p:nvPr/>
        </p:nvSpPr>
        <p:spPr>
          <a:xfrm>
            <a:off x="10012680" y="3529584"/>
            <a:ext cx="1143000" cy="283464"/>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700" b="1" i="0">
                <a:solidFill>
                  <a:srgbClr val="36D399"/>
                </a:solidFill>
                <a:latin typeface="Aptos"/>
              </a:rPr>
              <a:t>2 caught</a:t>
            </a:r>
          </a:p>
        </p:txBody>
      </p:sp>
      <p:sp>
        <p:nvSpPr>
          <p:cNvPr id="47" name="TextBox 46"/>
          <p:cNvSpPr txBox="1"/>
          <p:nvPr/>
        </p:nvSpPr>
        <p:spPr>
          <a:xfrm>
            <a:off x="8778240" y="4050791"/>
            <a:ext cx="2377440" cy="283464"/>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500" b="1" i="0">
                <a:solidFill>
                  <a:srgbClr val="F5F8F6"/>
                </a:solidFill>
                <a:latin typeface="Aptos"/>
              </a:rPr>
              <a:t>0 leaked to the farmer</a:t>
            </a:r>
          </a:p>
        </p:txBody>
      </p:sp>
      <p:sp>
        <p:nvSpPr>
          <p:cNvPr id="48" name="TextBox 47"/>
          <p:cNvSpPr txBox="1"/>
          <p:nvPr/>
        </p:nvSpPr>
        <p:spPr>
          <a:xfrm>
            <a:off x="8778240" y="4507992"/>
            <a:ext cx="2304288" cy="22860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850" b="0" i="0">
                <a:solidFill>
                  <a:srgbClr val="6E8278"/>
                </a:solidFill>
                <a:latin typeface="Aptos"/>
              </a:rPr>
              <a:t>Small-sample counts — not a claimed universal rate.</a:t>
            </a:r>
          </a:p>
        </p:txBody>
      </p:sp>
      <p:sp>
        <p:nvSpPr>
          <p:cNvPr id="49" name="Rounded Rectangle 48"/>
          <p:cNvSpPr/>
          <p:nvPr/>
        </p:nvSpPr>
        <p:spPr>
          <a:xfrm>
            <a:off x="621792" y="5367528"/>
            <a:ext cx="10972800" cy="630936"/>
          </a:xfrm>
          <a:prstGeom prst="roundRect">
            <a:avLst/>
          </a:prstGeom>
          <a:solidFill>
            <a:srgbClr val="2A1715"/>
          </a:solidFill>
          <a:ln w="10160">
            <a:solidFill>
              <a:srgbClr val="FF6B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77824" y="5550408"/>
            <a:ext cx="10378440" cy="256032"/>
          </a:xfrm>
          <a:prstGeom prst="rect">
            <a:avLst/>
          </a:prstGeom>
          <a:noFill/>
        </p:spPr>
        <p:txBody>
          <a:bodyPr wrap="square" lIns="27432" rIns="27432" tIns="27432" bIns="27432" anchor="t">
            <a:spAutoFit/>
          </a:bodyPr>
          <a:lstStyle/>
          <a:p>
            <a:pPr algn="ctr">
              <a:lnSpc>
                <a:spcPct val="105000"/>
              </a:lnSpc>
              <a:spcBef>
                <a:spcPts val="0"/>
              </a:spcBef>
              <a:spcAft>
                <a:spcPts val="0"/>
              </a:spcAft>
            </a:pPr>
            <a:r>
              <a:rPr sz="1300" b="1" i="0">
                <a:solidFill>
                  <a:srgbClr val="F5F8F6"/>
                </a:solidFill>
                <a:latin typeface="Aptos"/>
              </a:rPr>
              <a:t>BLOCK means no dosage, schedule, cost, or rescan prescription — only the evidence, reason, and a safe referral.</a:t>
            </a:r>
          </a:p>
        </p:txBody>
      </p:sp>
      <p:sp>
        <p:nvSpPr>
          <p:cNvPr id="51" name="TextBox 50"/>
          <p:cNvSpPr txBox="1"/>
          <p:nvPr/>
        </p:nvSpPr>
        <p:spPr>
          <a:xfrm>
            <a:off x="621792" y="6181344"/>
            <a:ext cx="10698480" cy="16459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740" b="0" i="0">
                <a:solidFill>
                  <a:srgbClr val="6E8278"/>
                </a:solidFill>
                <a:latin typeface="Aptos"/>
              </a:rPr>
              <a:t>Source: ml/artifacts/block_rate.md • 10 attacks, 2 reached the plan, both were blocked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7140F"/>
        </a:solidFill>
        <a:effectLst/>
      </p:bgPr>
    </p:bg>
    <p:spTree>
      <p:nvGrpSpPr>
        <p:cNvPr id="1" name=""/>
        <p:cNvGrpSpPr/>
        <p:nvPr/>
      </p:nvGrpSpPr>
      <p:grpSpPr/>
      <p:sp>
        <p:nvSpPr>
          <p:cNvPr id="2" name="Rectangle 1"/>
          <p:cNvSpPr/>
          <p:nvPr/>
        </p:nvSpPr>
        <p:spPr>
          <a:xfrm>
            <a:off x="10168128"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552176"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36224"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320272"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704319"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149840" y="146304"/>
            <a:ext cx="2039112" cy="9144"/>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149840" y="365760"/>
            <a:ext cx="2039112" cy="9144"/>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149840" y="585216"/>
            <a:ext cx="2039112" cy="9144"/>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iamond 9"/>
          <p:cNvSpPr/>
          <p:nvPr/>
        </p:nvSpPr>
        <p:spPr>
          <a:xfrm>
            <a:off x="502920" y="310896"/>
            <a:ext cx="292608" cy="292608"/>
          </a:xfrm>
          <a:prstGeom prst="diamond">
            <a:avLst/>
          </a:prstGeom>
          <a:solidFill>
            <a:srgbClr val="132F25"/>
          </a:solidFill>
          <a:ln w="13970">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iamond 10"/>
          <p:cNvSpPr/>
          <p:nvPr/>
        </p:nvSpPr>
        <p:spPr>
          <a:xfrm>
            <a:off x="598932" y="406908"/>
            <a:ext cx="100584" cy="100584"/>
          </a:xfrm>
          <a:prstGeom prst="diamond">
            <a:avLst/>
          </a:prstGeom>
          <a:solidFill>
            <a:srgbClr val="75E6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3544" y="301752"/>
            <a:ext cx="1920240" cy="21945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000" b="1" i="0">
                <a:solidFill>
                  <a:srgbClr val="F5F8F6"/>
                </a:solidFill>
                <a:latin typeface="Aptos"/>
              </a:rPr>
              <a:t>AGRISENTINEL</a:t>
            </a:r>
          </a:p>
        </p:txBody>
      </p:sp>
      <p:sp>
        <p:nvSpPr>
          <p:cNvPr id="13" name="TextBox 12"/>
          <p:cNvSpPr txBox="1"/>
          <p:nvPr/>
        </p:nvSpPr>
        <p:spPr>
          <a:xfrm>
            <a:off x="923544" y="466344"/>
            <a:ext cx="2011680" cy="146304"/>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650" b="1" i="0" spc="90">
                <a:solidFill>
                  <a:srgbClr val="36D399"/>
                </a:solidFill>
                <a:latin typeface="Aptos"/>
              </a:rPr>
              <a:t>AUTONOMOUS FIELD HEALTH</a:t>
            </a:r>
          </a:p>
        </p:txBody>
      </p:sp>
      <p:sp>
        <p:nvSpPr>
          <p:cNvPr id="14" name="TextBox 13"/>
          <p:cNvSpPr txBox="1"/>
          <p:nvPr/>
        </p:nvSpPr>
        <p:spPr>
          <a:xfrm>
            <a:off x="11082528" y="283464"/>
            <a:ext cx="502920" cy="228600"/>
          </a:xfrm>
          <a:prstGeom prst="rect">
            <a:avLst/>
          </a:prstGeom>
          <a:noFill/>
        </p:spPr>
        <p:txBody>
          <a:bodyPr wrap="square" lIns="27432" rIns="27432" tIns="27432" bIns="27432" anchor="t">
            <a:spAutoFit/>
          </a:bodyPr>
          <a:lstStyle/>
          <a:p>
            <a:pPr algn="r">
              <a:lnSpc>
                <a:spcPct val="105000"/>
              </a:lnSpc>
              <a:spcBef>
                <a:spcPts val="0"/>
              </a:spcBef>
              <a:spcAft>
                <a:spcPts val="0"/>
              </a:spcAft>
            </a:pPr>
            <a:r>
              <a:rPr sz="900" b="1" i="0">
                <a:solidFill>
                  <a:srgbClr val="6E8278"/>
                </a:solidFill>
                <a:latin typeface="Aptos"/>
              </a:rPr>
              <a:t>11</a:t>
            </a:r>
          </a:p>
        </p:txBody>
      </p:sp>
      <p:sp>
        <p:nvSpPr>
          <p:cNvPr id="15" name="TextBox 14"/>
          <p:cNvSpPr txBox="1"/>
          <p:nvPr/>
        </p:nvSpPr>
        <p:spPr>
          <a:xfrm>
            <a:off x="9189720" y="283464"/>
            <a:ext cx="1783080" cy="228600"/>
          </a:xfrm>
          <a:prstGeom prst="rect">
            <a:avLst/>
          </a:prstGeom>
          <a:noFill/>
        </p:spPr>
        <p:txBody>
          <a:bodyPr wrap="square" lIns="27432" rIns="27432" tIns="27432" bIns="27432" anchor="t">
            <a:spAutoFit/>
          </a:bodyPr>
          <a:lstStyle/>
          <a:p>
            <a:pPr algn="r">
              <a:lnSpc>
                <a:spcPct val="105000"/>
              </a:lnSpc>
              <a:spcBef>
                <a:spcPts val="0"/>
              </a:spcBef>
              <a:spcAft>
                <a:spcPts val="0"/>
              </a:spcAft>
            </a:pPr>
            <a:r>
              <a:rPr sz="800" b="1" i="0" spc="100">
                <a:solidFill>
                  <a:srgbClr val="36D399"/>
                </a:solidFill>
                <a:latin typeface="Aptos"/>
              </a:rPr>
              <a:t>EXECUTION</a:t>
            </a:r>
          </a:p>
        </p:txBody>
      </p:sp>
      <p:sp>
        <p:nvSpPr>
          <p:cNvPr id="16" name="TextBox 15"/>
          <p:cNvSpPr txBox="1"/>
          <p:nvPr/>
        </p:nvSpPr>
        <p:spPr>
          <a:xfrm>
            <a:off x="530352" y="896112"/>
            <a:ext cx="10881360" cy="59436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2800" b="1" i="0">
                <a:solidFill>
                  <a:srgbClr val="F5F8F6"/>
                </a:solidFill>
                <a:latin typeface="Aptos"/>
              </a:rPr>
              <a:t>Two developers. One frozen contract. One integrated demo.</a:t>
            </a:r>
          </a:p>
        </p:txBody>
      </p:sp>
      <p:sp>
        <p:nvSpPr>
          <p:cNvPr id="17" name="TextBox 16"/>
          <p:cNvSpPr txBox="1"/>
          <p:nvPr/>
        </p:nvSpPr>
        <p:spPr>
          <a:xfrm>
            <a:off x="548640" y="1481328"/>
            <a:ext cx="10515600" cy="384048"/>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350" b="0" i="0">
                <a:solidFill>
                  <a:srgbClr val="A7B9B0"/>
                </a:solidFill>
                <a:latin typeface="Aptos"/>
              </a:rPr>
              <a:t>The project was split by ownership so the ML/agent pipeline and product experience could move in parallel.</a:t>
            </a:r>
          </a:p>
        </p:txBody>
      </p:sp>
      <p:sp>
        <p:nvSpPr>
          <p:cNvPr id="18" name="TextBox 17"/>
          <p:cNvSpPr txBox="1"/>
          <p:nvPr/>
        </p:nvSpPr>
        <p:spPr>
          <a:xfrm>
            <a:off x="530352" y="6547104"/>
            <a:ext cx="6217920" cy="16459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750" b="1" i="0" spc="70">
                <a:solidFill>
                  <a:srgbClr val="6E8278"/>
                </a:solidFill>
                <a:latin typeface="Aptos"/>
              </a:rPr>
              <a:t>AAROH AI/ML HACKATHON  •  VISHAL + KHUSHI</a:t>
            </a:r>
          </a:p>
        </p:txBody>
      </p:sp>
      <p:sp>
        <p:nvSpPr>
          <p:cNvPr id="19" name="Rounded Rectangle 18"/>
          <p:cNvSpPr/>
          <p:nvPr/>
        </p:nvSpPr>
        <p:spPr>
          <a:xfrm>
            <a:off x="603504" y="2121408"/>
            <a:ext cx="3401568" cy="3054096"/>
          </a:xfrm>
          <a:prstGeom prst="roundRect">
            <a:avLst/>
          </a:prstGeom>
          <a:solidFill>
            <a:srgbClr val="0C2119"/>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32104" y="2386584"/>
            <a:ext cx="950976" cy="310896"/>
          </a:xfrm>
          <a:prstGeom prst="roundRect">
            <a:avLst/>
          </a:prstGeom>
          <a:solidFill>
            <a:srgbClr val="102B21"/>
          </a:solidFill>
          <a:ln w="10160">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2395727"/>
            <a:ext cx="859536" cy="274320"/>
          </a:xfrm>
          <a:prstGeom prst="rect">
            <a:avLst/>
          </a:prstGeom>
          <a:noFill/>
        </p:spPr>
        <p:txBody>
          <a:bodyPr wrap="square" lIns="27432" rIns="27432" tIns="27432" bIns="27432" anchor="ctr">
            <a:spAutoFit/>
          </a:bodyPr>
          <a:lstStyle/>
          <a:p>
            <a:pPr algn="ctr">
              <a:lnSpc>
                <a:spcPct val="105000"/>
              </a:lnSpc>
              <a:spcBef>
                <a:spcPts val="0"/>
              </a:spcBef>
              <a:spcAft>
                <a:spcPts val="0"/>
              </a:spcAft>
            </a:pPr>
            <a:r>
              <a:rPr sz="900" b="1" i="0">
                <a:solidFill>
                  <a:srgbClr val="36D399"/>
                </a:solidFill>
                <a:latin typeface="Aptos"/>
              </a:rPr>
              <a:t>VISHAL</a:t>
            </a:r>
          </a:p>
        </p:txBody>
      </p:sp>
      <p:sp>
        <p:nvSpPr>
          <p:cNvPr id="22" name="TextBox 21"/>
          <p:cNvSpPr txBox="1"/>
          <p:nvPr/>
        </p:nvSpPr>
        <p:spPr>
          <a:xfrm>
            <a:off x="832104" y="2843784"/>
            <a:ext cx="2423160" cy="31089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800" b="1" i="0">
                <a:solidFill>
                  <a:srgbClr val="F5F8F6"/>
                </a:solidFill>
                <a:latin typeface="Aptos"/>
              </a:rPr>
              <a:t>AI / ML + Backend</a:t>
            </a:r>
          </a:p>
        </p:txBody>
      </p:sp>
      <p:sp>
        <p:nvSpPr>
          <p:cNvPr id="23" name="Oval 22"/>
          <p:cNvSpPr/>
          <p:nvPr/>
        </p:nvSpPr>
        <p:spPr>
          <a:xfrm>
            <a:off x="841248" y="3474720"/>
            <a:ext cx="82296" cy="82296"/>
          </a:xfrm>
          <a:prstGeom prst="ellipse">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3364992"/>
            <a:ext cx="2578608" cy="435863"/>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050" b="0" i="0">
                <a:solidFill>
                  <a:srgbClr val="A7B9B0"/>
                </a:solidFill>
                <a:latin typeface="Aptos"/>
              </a:rPr>
              <a:t>EfficientNet-B0 + ONNX inference</a:t>
            </a:r>
          </a:p>
        </p:txBody>
      </p:sp>
      <p:sp>
        <p:nvSpPr>
          <p:cNvPr id="25" name="Oval 24"/>
          <p:cNvSpPr/>
          <p:nvPr/>
        </p:nvSpPr>
        <p:spPr>
          <a:xfrm>
            <a:off x="841248" y="3910584"/>
            <a:ext cx="82296" cy="82296"/>
          </a:xfrm>
          <a:prstGeom prst="ellipse">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40" y="3800856"/>
            <a:ext cx="2578608" cy="435863"/>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050" b="0" i="0">
                <a:solidFill>
                  <a:srgbClr val="A7B9B0"/>
                </a:solidFill>
                <a:latin typeface="Aptos"/>
              </a:rPr>
              <a:t>Observer, fusion, agents, verifier</a:t>
            </a:r>
          </a:p>
        </p:txBody>
      </p:sp>
      <p:sp>
        <p:nvSpPr>
          <p:cNvPr id="27" name="Oval 26"/>
          <p:cNvSpPr/>
          <p:nvPr/>
        </p:nvSpPr>
        <p:spPr>
          <a:xfrm>
            <a:off x="841248" y="4346448"/>
            <a:ext cx="82296" cy="82296"/>
          </a:xfrm>
          <a:prstGeom prst="ellipse">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4236720"/>
            <a:ext cx="2578608" cy="435863"/>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050" b="0" i="0">
                <a:solidFill>
                  <a:srgbClr val="A7B9B0"/>
                </a:solidFill>
                <a:latin typeface="Aptos"/>
              </a:rPr>
              <a:t>FastAPI + SSE + evidence artifacts</a:t>
            </a:r>
          </a:p>
        </p:txBody>
      </p:sp>
      <p:sp>
        <p:nvSpPr>
          <p:cNvPr id="29" name="Rounded Rectangle 28"/>
          <p:cNvSpPr/>
          <p:nvPr/>
        </p:nvSpPr>
        <p:spPr>
          <a:xfrm>
            <a:off x="4178808" y="2121408"/>
            <a:ext cx="3401568" cy="3054096"/>
          </a:xfrm>
          <a:prstGeom prst="roundRect">
            <a:avLst/>
          </a:prstGeom>
          <a:solidFill>
            <a:srgbClr val="0C2119"/>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407408" y="2386584"/>
            <a:ext cx="932688" cy="310896"/>
          </a:xfrm>
          <a:prstGeom prst="roundRect">
            <a:avLst/>
          </a:prstGeom>
          <a:solidFill>
            <a:srgbClr val="102B21"/>
          </a:solidFill>
          <a:ln w="10160">
            <a:solidFill>
              <a:srgbClr val="5DD6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53128" y="2395727"/>
            <a:ext cx="841248" cy="274320"/>
          </a:xfrm>
          <a:prstGeom prst="rect">
            <a:avLst/>
          </a:prstGeom>
          <a:noFill/>
        </p:spPr>
        <p:txBody>
          <a:bodyPr wrap="square" lIns="27432" rIns="27432" tIns="27432" bIns="27432" anchor="ctr">
            <a:spAutoFit/>
          </a:bodyPr>
          <a:lstStyle/>
          <a:p>
            <a:pPr algn="ctr">
              <a:lnSpc>
                <a:spcPct val="105000"/>
              </a:lnSpc>
              <a:spcBef>
                <a:spcPts val="0"/>
              </a:spcBef>
              <a:spcAft>
                <a:spcPts val="0"/>
              </a:spcAft>
            </a:pPr>
            <a:r>
              <a:rPr sz="900" b="1" i="0">
                <a:solidFill>
                  <a:srgbClr val="5DD6D3"/>
                </a:solidFill>
                <a:latin typeface="Aptos"/>
              </a:rPr>
              <a:t>KHUSHI</a:t>
            </a:r>
          </a:p>
        </p:txBody>
      </p:sp>
      <p:sp>
        <p:nvSpPr>
          <p:cNvPr id="32" name="TextBox 31"/>
          <p:cNvSpPr txBox="1"/>
          <p:nvPr/>
        </p:nvSpPr>
        <p:spPr>
          <a:xfrm>
            <a:off x="4407408" y="2843784"/>
            <a:ext cx="2423160" cy="31089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800" b="1" i="0">
                <a:solidFill>
                  <a:srgbClr val="F5F8F6"/>
                </a:solidFill>
                <a:latin typeface="Aptos"/>
              </a:rPr>
              <a:t>Frontend + Demo</a:t>
            </a:r>
          </a:p>
        </p:txBody>
      </p:sp>
      <p:sp>
        <p:nvSpPr>
          <p:cNvPr id="33" name="Oval 32"/>
          <p:cNvSpPr/>
          <p:nvPr/>
        </p:nvSpPr>
        <p:spPr>
          <a:xfrm>
            <a:off x="4416552" y="3474720"/>
            <a:ext cx="82296" cy="82296"/>
          </a:xfrm>
          <a:prstGeom prst="ellipse">
            <a:avLst/>
          </a:prstGeom>
          <a:solidFill>
            <a:srgbClr val="5DD6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81144" y="3364992"/>
            <a:ext cx="2578608" cy="435863"/>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050" b="0" i="0">
                <a:solidFill>
                  <a:srgbClr val="A7B9B0"/>
                </a:solidFill>
                <a:latin typeface="Aptos"/>
              </a:rPr>
              <a:t>React field console + heatmap</a:t>
            </a:r>
          </a:p>
        </p:txBody>
      </p:sp>
      <p:sp>
        <p:nvSpPr>
          <p:cNvPr id="35" name="Oval 34"/>
          <p:cNvSpPr/>
          <p:nvPr/>
        </p:nvSpPr>
        <p:spPr>
          <a:xfrm>
            <a:off x="4416552" y="3910584"/>
            <a:ext cx="82296" cy="82296"/>
          </a:xfrm>
          <a:prstGeom prst="ellipse">
            <a:avLst/>
          </a:prstGeom>
          <a:solidFill>
            <a:srgbClr val="5DD6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81144" y="3800856"/>
            <a:ext cx="2578608" cy="435863"/>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050" b="0" i="0">
                <a:solidFill>
                  <a:srgbClr val="A7B9B0"/>
                </a:solidFill>
                <a:latin typeface="Aptos"/>
              </a:rPr>
              <a:t>Live pipeline, PASS / BLOCK states</a:t>
            </a:r>
          </a:p>
        </p:txBody>
      </p:sp>
      <p:sp>
        <p:nvSpPr>
          <p:cNvPr id="37" name="Oval 36"/>
          <p:cNvSpPr/>
          <p:nvPr/>
        </p:nvSpPr>
        <p:spPr>
          <a:xfrm>
            <a:off x="4416552" y="4346448"/>
            <a:ext cx="82296" cy="82296"/>
          </a:xfrm>
          <a:prstGeom prst="ellipse">
            <a:avLst/>
          </a:prstGeom>
          <a:solidFill>
            <a:srgbClr val="5DD6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81144" y="4236720"/>
            <a:ext cx="2578608" cy="435863"/>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050" b="0" i="0">
                <a:solidFill>
                  <a:srgbClr val="A7B9B0"/>
                </a:solidFill>
                <a:latin typeface="Aptos"/>
              </a:rPr>
              <a:t>Offline replay + farmer brief UX</a:t>
            </a:r>
          </a:p>
        </p:txBody>
      </p:sp>
      <p:sp>
        <p:nvSpPr>
          <p:cNvPr id="39" name="Rounded Rectangle 38"/>
          <p:cNvSpPr/>
          <p:nvPr/>
        </p:nvSpPr>
        <p:spPr>
          <a:xfrm>
            <a:off x="7754112" y="2121408"/>
            <a:ext cx="3831336" cy="3054096"/>
          </a:xfrm>
          <a:prstGeom prst="roundRect">
            <a:avLst/>
          </a:prstGeom>
          <a:solidFill>
            <a:srgbClr val="0C2119"/>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01000" y="2414016"/>
            <a:ext cx="2697480" cy="21945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900" b="1" i="0" spc="120">
                <a:solidFill>
                  <a:srgbClr val="F4C84A"/>
                </a:solidFill>
                <a:latin typeface="Aptos"/>
              </a:rPr>
              <a:t>PRODUCTION-SHAPED PROTOTYPE</a:t>
            </a:r>
          </a:p>
        </p:txBody>
      </p:sp>
      <p:sp>
        <p:nvSpPr>
          <p:cNvPr id="41" name="TextBox 40"/>
          <p:cNvSpPr txBox="1"/>
          <p:nvPr/>
        </p:nvSpPr>
        <p:spPr>
          <a:xfrm>
            <a:off x="8001000" y="2907792"/>
            <a:ext cx="960120" cy="192024"/>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750" b="1" i="0" spc="50">
                <a:solidFill>
                  <a:srgbClr val="36D399"/>
                </a:solidFill>
                <a:latin typeface="Aptos"/>
              </a:rPr>
              <a:t>EDGE</a:t>
            </a:r>
          </a:p>
        </p:txBody>
      </p:sp>
      <p:sp>
        <p:nvSpPr>
          <p:cNvPr id="42" name="TextBox 41"/>
          <p:cNvSpPr txBox="1"/>
          <p:nvPr/>
        </p:nvSpPr>
        <p:spPr>
          <a:xfrm>
            <a:off x="9079992" y="2889504"/>
            <a:ext cx="2194560" cy="21945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980" b="1" i="0">
                <a:solidFill>
                  <a:srgbClr val="F5F8F6"/>
                </a:solidFill>
                <a:latin typeface="Aptos"/>
              </a:rPr>
              <a:t>ONNX Runtime • CPU • offline fallback</a:t>
            </a:r>
          </a:p>
        </p:txBody>
      </p:sp>
      <p:sp>
        <p:nvSpPr>
          <p:cNvPr id="43" name="Rectangle 42"/>
          <p:cNvSpPr/>
          <p:nvPr/>
        </p:nvSpPr>
        <p:spPr>
          <a:xfrm>
            <a:off x="8001000" y="3236976"/>
            <a:ext cx="3182112" cy="9144"/>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001000" y="3438144"/>
            <a:ext cx="960120" cy="192024"/>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750" b="1" i="0" spc="50">
                <a:solidFill>
                  <a:srgbClr val="5DD6D3"/>
                </a:solidFill>
                <a:latin typeface="Aptos"/>
              </a:rPr>
              <a:t>API</a:t>
            </a:r>
          </a:p>
        </p:txBody>
      </p:sp>
      <p:sp>
        <p:nvSpPr>
          <p:cNvPr id="45" name="TextBox 44"/>
          <p:cNvSpPr txBox="1"/>
          <p:nvPr/>
        </p:nvSpPr>
        <p:spPr>
          <a:xfrm>
            <a:off x="9079992" y="3419856"/>
            <a:ext cx="2194560" cy="21945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980" b="1" i="0">
                <a:solidFill>
                  <a:srgbClr val="F5F8F6"/>
                </a:solidFill>
                <a:latin typeface="Aptos"/>
              </a:rPr>
              <a:t>FastAPI • event-sourced state • SSE</a:t>
            </a:r>
          </a:p>
        </p:txBody>
      </p:sp>
      <p:sp>
        <p:nvSpPr>
          <p:cNvPr id="46" name="Rectangle 45"/>
          <p:cNvSpPr/>
          <p:nvPr/>
        </p:nvSpPr>
        <p:spPr>
          <a:xfrm>
            <a:off x="8001000" y="3767328"/>
            <a:ext cx="3182112" cy="9144"/>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001000" y="3968496"/>
            <a:ext cx="960120" cy="192024"/>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750" b="1" i="0" spc="50">
                <a:solidFill>
                  <a:srgbClr val="F4C84A"/>
                </a:solidFill>
                <a:latin typeface="Aptos"/>
              </a:rPr>
              <a:t>INTELLIGENCE</a:t>
            </a:r>
          </a:p>
        </p:txBody>
      </p:sp>
      <p:sp>
        <p:nvSpPr>
          <p:cNvPr id="48" name="TextBox 47"/>
          <p:cNvSpPr txBox="1"/>
          <p:nvPr/>
        </p:nvSpPr>
        <p:spPr>
          <a:xfrm>
            <a:off x="9079992" y="3950208"/>
            <a:ext cx="2194560" cy="21945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980" b="1" i="0">
                <a:solidFill>
                  <a:srgbClr val="F5F8F6"/>
                </a:solidFill>
                <a:latin typeface="Aptos"/>
              </a:rPr>
              <a:t>Vision LLM • TF-IDF RAG • verifier</a:t>
            </a:r>
          </a:p>
        </p:txBody>
      </p:sp>
      <p:sp>
        <p:nvSpPr>
          <p:cNvPr id="49" name="Rectangle 48"/>
          <p:cNvSpPr/>
          <p:nvPr/>
        </p:nvSpPr>
        <p:spPr>
          <a:xfrm>
            <a:off x="8001000" y="4297680"/>
            <a:ext cx="3182112" cy="9144"/>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01000" y="4498848"/>
            <a:ext cx="960120" cy="192024"/>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750" b="1" i="0" spc="50">
                <a:solidFill>
                  <a:srgbClr val="F97316"/>
                </a:solidFill>
                <a:latin typeface="Aptos"/>
              </a:rPr>
              <a:t>PRODUCT</a:t>
            </a:r>
          </a:p>
        </p:txBody>
      </p:sp>
      <p:sp>
        <p:nvSpPr>
          <p:cNvPr id="51" name="TextBox 50"/>
          <p:cNvSpPr txBox="1"/>
          <p:nvPr/>
        </p:nvSpPr>
        <p:spPr>
          <a:xfrm>
            <a:off x="9079992" y="4480560"/>
            <a:ext cx="2194560" cy="21945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980" b="1" i="0">
                <a:solidFill>
                  <a:srgbClr val="F5F8F6"/>
                </a:solidFill>
                <a:latin typeface="Aptos"/>
              </a:rPr>
              <a:t>React 19 • Vite • Tailwind • EN/HI</a:t>
            </a:r>
          </a:p>
        </p:txBody>
      </p:sp>
      <p:sp>
        <p:nvSpPr>
          <p:cNvPr id="52" name="Rounded Rectangle 51"/>
          <p:cNvSpPr/>
          <p:nvPr/>
        </p:nvSpPr>
        <p:spPr>
          <a:xfrm>
            <a:off x="603504" y="5577840"/>
            <a:ext cx="10981944" cy="530352"/>
          </a:xfrm>
          <a:prstGeom prst="roundRect">
            <a:avLst/>
          </a:prstGeom>
          <a:solidFill>
            <a:srgbClr val="0E2B20"/>
          </a:solidFill>
          <a:ln w="10160">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50392" y="5742432"/>
            <a:ext cx="1170432" cy="201168"/>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900" b="1" i="0">
                <a:solidFill>
                  <a:srgbClr val="36D399"/>
                </a:solidFill>
                <a:latin typeface="Aptos"/>
              </a:rPr>
              <a:t>Shared contract</a:t>
            </a:r>
          </a:p>
        </p:txBody>
      </p:sp>
      <p:sp>
        <p:nvSpPr>
          <p:cNvPr id="54" name="TextBox 53"/>
          <p:cNvSpPr txBox="1"/>
          <p:nvPr/>
        </p:nvSpPr>
        <p:spPr>
          <a:xfrm>
            <a:off x="2130552" y="5669280"/>
            <a:ext cx="8915400" cy="283464"/>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150" b="1" i="0">
                <a:solidFill>
                  <a:srgbClr val="F5F8F6"/>
                </a:solidFill>
                <a:latin typeface="Aptos"/>
              </a:rPr>
              <a:t>POST run • GET state • SSE events • health — live backend and offline replay render the same frozen RunState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7140F"/>
        </a:solidFill>
        <a:effectLst/>
      </p:bgPr>
    </p:bg>
    <p:spTree>
      <p:nvGrpSpPr>
        <p:cNvPr id="1" name=""/>
        <p:cNvGrpSpPr/>
        <p:nvPr/>
      </p:nvGrpSpPr>
      <p:grpSpPr/>
      <p:sp>
        <p:nvSpPr>
          <p:cNvPr id="2" name="Rectangle 1"/>
          <p:cNvSpPr/>
          <p:nvPr/>
        </p:nvSpPr>
        <p:spPr>
          <a:xfrm>
            <a:off x="10168128"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552176"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36224"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320272"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704319" y="0"/>
            <a:ext cx="9144" cy="685800"/>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149840" y="146304"/>
            <a:ext cx="2039112" cy="9144"/>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149840" y="365760"/>
            <a:ext cx="2039112" cy="9144"/>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149840" y="585216"/>
            <a:ext cx="2039112" cy="9144"/>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iamond 9"/>
          <p:cNvSpPr/>
          <p:nvPr/>
        </p:nvSpPr>
        <p:spPr>
          <a:xfrm>
            <a:off x="502920" y="310896"/>
            <a:ext cx="292608" cy="292608"/>
          </a:xfrm>
          <a:prstGeom prst="diamond">
            <a:avLst/>
          </a:prstGeom>
          <a:solidFill>
            <a:srgbClr val="132F25"/>
          </a:solidFill>
          <a:ln w="13970">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iamond 10"/>
          <p:cNvSpPr/>
          <p:nvPr/>
        </p:nvSpPr>
        <p:spPr>
          <a:xfrm>
            <a:off x="598932" y="406908"/>
            <a:ext cx="100584" cy="100584"/>
          </a:xfrm>
          <a:prstGeom prst="diamond">
            <a:avLst/>
          </a:prstGeom>
          <a:solidFill>
            <a:srgbClr val="75E6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3544" y="301752"/>
            <a:ext cx="1920240" cy="21945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000" b="1" i="0">
                <a:solidFill>
                  <a:srgbClr val="F5F8F6"/>
                </a:solidFill>
                <a:latin typeface="Aptos"/>
              </a:rPr>
              <a:t>AGRISENTINEL</a:t>
            </a:r>
          </a:p>
        </p:txBody>
      </p:sp>
      <p:sp>
        <p:nvSpPr>
          <p:cNvPr id="13" name="TextBox 12"/>
          <p:cNvSpPr txBox="1"/>
          <p:nvPr/>
        </p:nvSpPr>
        <p:spPr>
          <a:xfrm>
            <a:off x="923544" y="466344"/>
            <a:ext cx="2011680" cy="146304"/>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650" b="1" i="0" spc="90">
                <a:solidFill>
                  <a:srgbClr val="36D399"/>
                </a:solidFill>
                <a:latin typeface="Aptos"/>
              </a:rPr>
              <a:t>AUTONOMOUS FIELD HEALTH</a:t>
            </a:r>
          </a:p>
        </p:txBody>
      </p:sp>
      <p:sp>
        <p:nvSpPr>
          <p:cNvPr id="14" name="TextBox 13"/>
          <p:cNvSpPr txBox="1"/>
          <p:nvPr/>
        </p:nvSpPr>
        <p:spPr>
          <a:xfrm>
            <a:off x="11082528" y="283464"/>
            <a:ext cx="502920" cy="228600"/>
          </a:xfrm>
          <a:prstGeom prst="rect">
            <a:avLst/>
          </a:prstGeom>
          <a:noFill/>
        </p:spPr>
        <p:txBody>
          <a:bodyPr wrap="square" lIns="27432" rIns="27432" tIns="27432" bIns="27432" anchor="t">
            <a:spAutoFit/>
          </a:bodyPr>
          <a:lstStyle/>
          <a:p>
            <a:pPr algn="r">
              <a:lnSpc>
                <a:spcPct val="105000"/>
              </a:lnSpc>
              <a:spcBef>
                <a:spcPts val="0"/>
              </a:spcBef>
              <a:spcAft>
                <a:spcPts val="0"/>
              </a:spcAft>
            </a:pPr>
            <a:r>
              <a:rPr sz="900" b="1" i="0">
                <a:solidFill>
                  <a:srgbClr val="6E8278"/>
                </a:solidFill>
                <a:latin typeface="Aptos"/>
              </a:rPr>
              <a:t>12</a:t>
            </a:r>
          </a:p>
        </p:txBody>
      </p:sp>
      <p:sp>
        <p:nvSpPr>
          <p:cNvPr id="15" name="TextBox 14"/>
          <p:cNvSpPr txBox="1"/>
          <p:nvPr/>
        </p:nvSpPr>
        <p:spPr>
          <a:xfrm>
            <a:off x="9189720" y="283464"/>
            <a:ext cx="1783080" cy="228600"/>
          </a:xfrm>
          <a:prstGeom prst="rect">
            <a:avLst/>
          </a:prstGeom>
          <a:noFill/>
        </p:spPr>
        <p:txBody>
          <a:bodyPr wrap="square" lIns="27432" rIns="27432" tIns="27432" bIns="27432" anchor="t">
            <a:spAutoFit/>
          </a:bodyPr>
          <a:lstStyle/>
          <a:p>
            <a:pPr algn="r">
              <a:lnSpc>
                <a:spcPct val="105000"/>
              </a:lnSpc>
              <a:spcBef>
                <a:spcPts val="0"/>
              </a:spcBef>
              <a:spcAft>
                <a:spcPts val="0"/>
              </a:spcAft>
            </a:pPr>
            <a:r>
              <a:rPr sz="800" b="1" i="0" spc="100">
                <a:solidFill>
                  <a:srgbClr val="36D399"/>
                </a:solidFill>
                <a:latin typeface="Aptos"/>
              </a:rPr>
              <a:t>VISION</a:t>
            </a:r>
          </a:p>
        </p:txBody>
      </p:sp>
      <p:sp>
        <p:nvSpPr>
          <p:cNvPr id="16" name="TextBox 15"/>
          <p:cNvSpPr txBox="1"/>
          <p:nvPr/>
        </p:nvSpPr>
        <p:spPr>
          <a:xfrm>
            <a:off x="530352" y="6547104"/>
            <a:ext cx="6217920" cy="16459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750" b="1" i="0" spc="70">
                <a:solidFill>
                  <a:srgbClr val="6E8278"/>
                </a:solidFill>
                <a:latin typeface="Aptos"/>
              </a:rPr>
              <a:t>AAROH AI/ML HACKATHON  •  VISHAL + KHUSHI</a:t>
            </a:r>
          </a:p>
        </p:txBody>
      </p:sp>
      <p:sp>
        <p:nvSpPr>
          <p:cNvPr id="17" name="TextBox 16"/>
          <p:cNvSpPr txBox="1"/>
          <p:nvPr/>
        </p:nvSpPr>
        <p:spPr>
          <a:xfrm>
            <a:off x="640080" y="1051560"/>
            <a:ext cx="6967728" cy="121615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3100" b="1" i="0">
                <a:solidFill>
                  <a:srgbClr val="F5F8F6"/>
                </a:solidFill>
                <a:latin typeface="Aptos"/>
              </a:rPr>
              <a:t>AgriSentinel turns uncertainty
into a safer field decision.</a:t>
            </a:r>
          </a:p>
        </p:txBody>
      </p:sp>
      <p:sp>
        <p:nvSpPr>
          <p:cNvPr id="18" name="TextBox 17"/>
          <p:cNvSpPr txBox="1"/>
          <p:nvPr/>
        </p:nvSpPr>
        <p:spPr>
          <a:xfrm>
            <a:off x="676656" y="2523744"/>
            <a:ext cx="6236208" cy="804672"/>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500" b="0" i="0">
                <a:solidFill>
                  <a:srgbClr val="A7B9B0"/>
                </a:solidFill>
                <a:latin typeface="Aptos"/>
              </a:rPr>
              <a:t>Not just “what disease?” — but where it is, how serious it may be, and whether the next action is evidence-backed enough to show.</a:t>
            </a:r>
          </a:p>
        </p:txBody>
      </p:sp>
      <p:sp>
        <p:nvSpPr>
          <p:cNvPr id="19" name="Rounded Rectangle 18"/>
          <p:cNvSpPr/>
          <p:nvPr/>
        </p:nvSpPr>
        <p:spPr>
          <a:xfrm>
            <a:off x="676656" y="3694176"/>
            <a:ext cx="841248" cy="310896"/>
          </a:xfrm>
          <a:prstGeom prst="roundRect">
            <a:avLst/>
          </a:prstGeom>
          <a:solidFill>
            <a:srgbClr val="102B21"/>
          </a:solidFill>
          <a:ln w="10160">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6" y="3703320"/>
            <a:ext cx="749808" cy="274320"/>
          </a:xfrm>
          <a:prstGeom prst="rect">
            <a:avLst/>
          </a:prstGeom>
          <a:noFill/>
        </p:spPr>
        <p:txBody>
          <a:bodyPr wrap="square" lIns="27432" rIns="27432" tIns="27432" bIns="27432" anchor="ctr">
            <a:spAutoFit/>
          </a:bodyPr>
          <a:lstStyle/>
          <a:p>
            <a:pPr algn="ctr">
              <a:lnSpc>
                <a:spcPct val="105000"/>
              </a:lnSpc>
              <a:spcBef>
                <a:spcPts val="0"/>
              </a:spcBef>
              <a:spcAft>
                <a:spcPts val="0"/>
              </a:spcAft>
            </a:pPr>
            <a:r>
              <a:rPr sz="850" b="1" i="0">
                <a:solidFill>
                  <a:srgbClr val="36D399"/>
                </a:solidFill>
                <a:latin typeface="Aptos"/>
              </a:rPr>
              <a:t>SEE</a:t>
            </a:r>
          </a:p>
        </p:txBody>
      </p:sp>
      <p:sp>
        <p:nvSpPr>
          <p:cNvPr id="21" name="TextBox 20"/>
          <p:cNvSpPr txBox="1"/>
          <p:nvPr/>
        </p:nvSpPr>
        <p:spPr>
          <a:xfrm>
            <a:off x="1737360" y="3685032"/>
            <a:ext cx="5193792" cy="347472"/>
          </a:xfrm>
          <a:prstGeom prst="rect">
            <a:avLst/>
          </a:prstGeom>
          <a:noFill/>
        </p:spPr>
        <p:txBody>
          <a:bodyPr wrap="square" lIns="27432" rIns="27432" tIns="27432" bIns="27432" anchor="ctr">
            <a:spAutoFit/>
          </a:bodyPr>
          <a:lstStyle/>
          <a:p>
            <a:pPr algn="l">
              <a:lnSpc>
                <a:spcPct val="105000"/>
              </a:lnSpc>
              <a:spcBef>
                <a:spcPts val="0"/>
              </a:spcBef>
              <a:spcAft>
                <a:spcPts val="0"/>
              </a:spcAft>
            </a:pPr>
            <a:r>
              <a:rPr sz="1250" b="1" i="0">
                <a:solidFill>
                  <a:srgbClr val="F5F8F6"/>
                </a:solidFill>
                <a:latin typeface="Aptos"/>
              </a:rPr>
              <a:t>Hybrid detection combines local spatial precision with whole-image context.</a:t>
            </a:r>
          </a:p>
        </p:txBody>
      </p:sp>
      <p:sp>
        <p:nvSpPr>
          <p:cNvPr id="22" name="Rounded Rectangle 21"/>
          <p:cNvSpPr/>
          <p:nvPr/>
        </p:nvSpPr>
        <p:spPr>
          <a:xfrm>
            <a:off x="676656" y="4498848"/>
            <a:ext cx="841248" cy="310896"/>
          </a:xfrm>
          <a:prstGeom prst="roundRect">
            <a:avLst/>
          </a:prstGeom>
          <a:solidFill>
            <a:srgbClr val="102B21"/>
          </a:solidFill>
          <a:ln w="10160">
            <a:solidFill>
              <a:srgbClr val="F4C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2376" y="4507992"/>
            <a:ext cx="749808" cy="274320"/>
          </a:xfrm>
          <a:prstGeom prst="rect">
            <a:avLst/>
          </a:prstGeom>
          <a:noFill/>
        </p:spPr>
        <p:txBody>
          <a:bodyPr wrap="square" lIns="27432" rIns="27432" tIns="27432" bIns="27432" anchor="ctr">
            <a:spAutoFit/>
          </a:bodyPr>
          <a:lstStyle/>
          <a:p>
            <a:pPr algn="ctr">
              <a:lnSpc>
                <a:spcPct val="105000"/>
              </a:lnSpc>
              <a:spcBef>
                <a:spcPts val="0"/>
              </a:spcBef>
              <a:spcAft>
                <a:spcPts val="0"/>
              </a:spcAft>
            </a:pPr>
            <a:r>
              <a:rPr sz="850" b="1" i="0">
                <a:solidFill>
                  <a:srgbClr val="F4C84A"/>
                </a:solidFill>
                <a:latin typeface="Aptos"/>
              </a:rPr>
              <a:t>VERIFY</a:t>
            </a:r>
          </a:p>
        </p:txBody>
      </p:sp>
      <p:sp>
        <p:nvSpPr>
          <p:cNvPr id="24" name="TextBox 23"/>
          <p:cNvSpPr txBox="1"/>
          <p:nvPr/>
        </p:nvSpPr>
        <p:spPr>
          <a:xfrm>
            <a:off x="1737360" y="4489704"/>
            <a:ext cx="5193792" cy="347472"/>
          </a:xfrm>
          <a:prstGeom prst="rect">
            <a:avLst/>
          </a:prstGeom>
          <a:noFill/>
        </p:spPr>
        <p:txBody>
          <a:bodyPr wrap="square" lIns="27432" rIns="27432" tIns="27432" bIns="27432" anchor="ctr">
            <a:spAutoFit/>
          </a:bodyPr>
          <a:lstStyle/>
          <a:p>
            <a:pPr algn="l">
              <a:lnSpc>
                <a:spcPct val="105000"/>
              </a:lnSpc>
              <a:spcBef>
                <a:spcPts val="0"/>
              </a:spcBef>
              <a:spcAft>
                <a:spcPts val="0"/>
              </a:spcAft>
            </a:pPr>
            <a:r>
              <a:rPr sz="1250" b="1" i="0">
                <a:solidFill>
                  <a:srgbClr val="F5F8F6"/>
                </a:solidFill>
                <a:latin typeface="Aptos"/>
              </a:rPr>
              <a:t>RAG grounding and a hard veto stop unsupported treatment from shipping.</a:t>
            </a:r>
          </a:p>
        </p:txBody>
      </p:sp>
      <p:sp>
        <p:nvSpPr>
          <p:cNvPr id="25" name="Rounded Rectangle 24"/>
          <p:cNvSpPr/>
          <p:nvPr/>
        </p:nvSpPr>
        <p:spPr>
          <a:xfrm>
            <a:off x="676656" y="5303520"/>
            <a:ext cx="841248" cy="310896"/>
          </a:xfrm>
          <a:prstGeom prst="roundRect">
            <a:avLst/>
          </a:prstGeom>
          <a:solidFill>
            <a:srgbClr val="102B21"/>
          </a:solidFill>
          <a:ln w="10160">
            <a:solidFill>
              <a:srgbClr val="5DD6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2376" y="5312664"/>
            <a:ext cx="749808" cy="274320"/>
          </a:xfrm>
          <a:prstGeom prst="rect">
            <a:avLst/>
          </a:prstGeom>
          <a:noFill/>
        </p:spPr>
        <p:txBody>
          <a:bodyPr wrap="square" lIns="27432" rIns="27432" tIns="27432" bIns="27432" anchor="ctr">
            <a:spAutoFit/>
          </a:bodyPr>
          <a:lstStyle/>
          <a:p>
            <a:pPr algn="ctr">
              <a:lnSpc>
                <a:spcPct val="105000"/>
              </a:lnSpc>
              <a:spcBef>
                <a:spcPts val="0"/>
              </a:spcBef>
              <a:spcAft>
                <a:spcPts val="0"/>
              </a:spcAft>
            </a:pPr>
            <a:r>
              <a:rPr sz="850" b="1" i="0">
                <a:solidFill>
                  <a:srgbClr val="5DD6D3"/>
                </a:solidFill>
                <a:latin typeface="Aptos"/>
              </a:rPr>
              <a:t>ACT</a:t>
            </a:r>
          </a:p>
        </p:txBody>
      </p:sp>
      <p:sp>
        <p:nvSpPr>
          <p:cNvPr id="27" name="TextBox 26"/>
          <p:cNvSpPr txBox="1"/>
          <p:nvPr/>
        </p:nvSpPr>
        <p:spPr>
          <a:xfrm>
            <a:off x="1737360" y="5294376"/>
            <a:ext cx="5193792" cy="347472"/>
          </a:xfrm>
          <a:prstGeom prst="rect">
            <a:avLst/>
          </a:prstGeom>
          <a:noFill/>
        </p:spPr>
        <p:txBody>
          <a:bodyPr wrap="square" lIns="27432" rIns="27432" tIns="27432" bIns="27432" anchor="ctr">
            <a:spAutoFit/>
          </a:bodyPr>
          <a:lstStyle/>
          <a:p>
            <a:pPr algn="l">
              <a:lnSpc>
                <a:spcPct val="105000"/>
              </a:lnSpc>
              <a:spcBef>
                <a:spcPts val="0"/>
              </a:spcBef>
              <a:spcAft>
                <a:spcPts val="0"/>
              </a:spcAft>
            </a:pPr>
            <a:r>
              <a:rPr sz="1250" b="1" i="0">
                <a:solidFill>
                  <a:srgbClr val="F5F8F6"/>
                </a:solidFill>
                <a:latin typeface="Aptos"/>
              </a:rPr>
              <a:t>The farmer gets a field map, schedule, cost band, and EN / HI brief.</a:t>
            </a:r>
          </a:p>
        </p:txBody>
      </p:sp>
      <p:sp>
        <p:nvSpPr>
          <p:cNvPr id="28" name="Rounded Rectangle 27"/>
          <p:cNvSpPr/>
          <p:nvPr/>
        </p:nvSpPr>
        <p:spPr>
          <a:xfrm>
            <a:off x="7635240" y="1143000"/>
            <a:ext cx="3950208" cy="4901184"/>
          </a:xfrm>
          <a:prstGeom prst="roundRect">
            <a:avLst/>
          </a:prstGeom>
          <a:solidFill>
            <a:srgbClr val="0C2119"/>
          </a:solidFill>
          <a:ln w="10160">
            <a:solidFill>
              <a:srgbClr val="21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6136" y="1508760"/>
            <a:ext cx="1828800" cy="21945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900" b="1" i="0" spc="120">
                <a:solidFill>
                  <a:srgbClr val="36D399"/>
                </a:solidFill>
                <a:latin typeface="Aptos"/>
              </a:rPr>
              <a:t>PROTOTYPE SCOPE</a:t>
            </a:r>
          </a:p>
        </p:txBody>
      </p:sp>
      <p:sp>
        <p:nvSpPr>
          <p:cNvPr id="30" name="TextBox 29"/>
          <p:cNvSpPr txBox="1"/>
          <p:nvPr/>
        </p:nvSpPr>
        <p:spPr>
          <a:xfrm>
            <a:off x="7946136" y="1892807"/>
            <a:ext cx="3127248" cy="31089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700" b="1" i="0">
                <a:solidFill>
                  <a:srgbClr val="F5F8F6"/>
                </a:solidFill>
                <a:latin typeface="Aptos"/>
              </a:rPr>
              <a:t>Tomato  •  Potato  •  Corn</a:t>
            </a:r>
          </a:p>
        </p:txBody>
      </p:sp>
      <p:sp>
        <p:nvSpPr>
          <p:cNvPr id="31" name="TextBox 30"/>
          <p:cNvSpPr txBox="1"/>
          <p:nvPr/>
        </p:nvSpPr>
        <p:spPr>
          <a:xfrm>
            <a:off x="7946136" y="2304288"/>
            <a:ext cx="2907792" cy="21945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050" b="0" i="0">
                <a:solidFill>
                  <a:srgbClr val="A7B9B0"/>
                </a:solidFill>
                <a:latin typeface="Aptos"/>
              </a:rPr>
              <a:t>14 disease / healthy classes</a:t>
            </a:r>
          </a:p>
        </p:txBody>
      </p:sp>
      <p:sp>
        <p:nvSpPr>
          <p:cNvPr id="32" name="Rectangle 31"/>
          <p:cNvSpPr/>
          <p:nvPr/>
        </p:nvSpPr>
        <p:spPr>
          <a:xfrm>
            <a:off x="7946136" y="2724912"/>
            <a:ext cx="3163824" cy="18288"/>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6136" y="3017520"/>
            <a:ext cx="1920240" cy="21945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900" b="1" i="0" spc="120">
                <a:solidFill>
                  <a:srgbClr val="F4C84A"/>
                </a:solidFill>
                <a:latin typeface="Aptos"/>
              </a:rPr>
              <a:t>NEXT VALIDATION</a:t>
            </a:r>
          </a:p>
        </p:txBody>
      </p:sp>
      <p:sp>
        <p:nvSpPr>
          <p:cNvPr id="34" name="TextBox 33"/>
          <p:cNvSpPr txBox="1"/>
          <p:nvPr/>
        </p:nvSpPr>
        <p:spPr>
          <a:xfrm>
            <a:off x="7946136" y="3401568"/>
            <a:ext cx="2834640" cy="310896"/>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700" b="1" i="0">
                <a:solidFill>
                  <a:srgbClr val="F5F8F6"/>
                </a:solidFill>
                <a:latin typeface="Aptos"/>
              </a:rPr>
              <a:t>Real-field benchmark</a:t>
            </a:r>
          </a:p>
        </p:txBody>
      </p:sp>
      <p:sp>
        <p:nvSpPr>
          <p:cNvPr id="35" name="TextBox 34"/>
          <p:cNvSpPr txBox="1"/>
          <p:nvPr/>
        </p:nvSpPr>
        <p:spPr>
          <a:xfrm>
            <a:off x="7946136" y="3813048"/>
            <a:ext cx="2926080" cy="640080"/>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050" b="0" i="0">
                <a:solidFill>
                  <a:srgbClr val="A7B9B0"/>
                </a:solidFill>
                <a:latin typeface="Aptos"/>
              </a:rPr>
              <a:t>30–50 original photos • crop/device calibration • regional agronomy review</a:t>
            </a:r>
          </a:p>
        </p:txBody>
      </p:sp>
      <p:sp>
        <p:nvSpPr>
          <p:cNvPr id="36" name="Rectangle 35"/>
          <p:cNvSpPr/>
          <p:nvPr/>
        </p:nvSpPr>
        <p:spPr>
          <a:xfrm>
            <a:off x="7946136" y="4590288"/>
            <a:ext cx="3163824" cy="18288"/>
          </a:xfrm>
          <a:prstGeom prst="rect">
            <a:avLst/>
          </a:prstGeom>
          <a:solidFill>
            <a:srgbClr val="21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946136" y="4937760"/>
            <a:ext cx="1298448" cy="201168"/>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800" b="1" i="0" spc="100">
                <a:solidFill>
                  <a:srgbClr val="36D399"/>
                </a:solidFill>
                <a:latin typeface="Aptos"/>
              </a:rPr>
              <a:t>THANK YOU</a:t>
            </a:r>
          </a:p>
        </p:txBody>
      </p:sp>
      <p:sp>
        <p:nvSpPr>
          <p:cNvPr id="38" name="TextBox 37"/>
          <p:cNvSpPr txBox="1"/>
          <p:nvPr/>
        </p:nvSpPr>
        <p:spPr>
          <a:xfrm>
            <a:off x="7946136" y="5276088"/>
            <a:ext cx="2606040" cy="329184"/>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1900" b="1" i="0">
                <a:solidFill>
                  <a:srgbClr val="F5F8F6"/>
                </a:solidFill>
                <a:latin typeface="Aptos"/>
              </a:rPr>
              <a:t>Vishal + Khushi</a:t>
            </a:r>
          </a:p>
        </p:txBody>
      </p:sp>
      <p:sp>
        <p:nvSpPr>
          <p:cNvPr id="39" name="TextBox 38"/>
          <p:cNvSpPr txBox="1"/>
          <p:nvPr/>
        </p:nvSpPr>
        <p:spPr>
          <a:xfrm>
            <a:off x="7946136" y="5650992"/>
            <a:ext cx="2560320" cy="201168"/>
          </a:xfrm>
          <a:prstGeom prst="rect">
            <a:avLst/>
          </a:prstGeom>
          <a:noFill/>
        </p:spPr>
        <p:txBody>
          <a:bodyPr wrap="square" lIns="27432" rIns="27432" tIns="27432" bIns="27432" anchor="t">
            <a:spAutoFit/>
          </a:bodyPr>
          <a:lstStyle/>
          <a:p>
            <a:pPr algn="l">
              <a:lnSpc>
                <a:spcPct val="105000"/>
              </a:lnSpc>
              <a:spcBef>
                <a:spcPts val="0"/>
              </a:spcBef>
              <a:spcAft>
                <a:spcPts val="0"/>
              </a:spcAft>
            </a:pPr>
            <a:r>
              <a:rPr sz="950" b="0" i="0">
                <a:solidFill>
                  <a:srgbClr val="75E6B8"/>
                </a:solidFill>
                <a:latin typeface="Aptos"/>
              </a:rPr>
              <a:t>Aaroh AI/ML Hackathon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AgriSentinel — Aaroh AI/ML Hackathon</dc:title>
  <dc:subject>Hybrid crop disease detection and verified field action planning</dc:subject>
  <dc:creator>Vishal and Khushi</dc:creator>
  <cp:keywords>AgriSentinel, Aaroh, AI, ML, agriculture, EfficientNet, vision LLM, RAG</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